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84" r:id="rId5"/>
    <p:sldId id="266" r:id="rId6"/>
    <p:sldId id="285" r:id="rId7"/>
    <p:sldId id="343" r:id="rId8"/>
    <p:sldId id="286" r:id="rId9"/>
    <p:sldId id="287" r:id="rId10"/>
    <p:sldId id="288" r:id="rId11"/>
    <p:sldId id="344" r:id="rId12"/>
    <p:sldId id="293" r:id="rId13"/>
    <p:sldId id="330" r:id="rId14"/>
    <p:sldId id="290" r:id="rId15"/>
    <p:sldId id="331" r:id="rId16"/>
    <p:sldId id="341" r:id="rId17"/>
    <p:sldId id="299" r:id="rId18"/>
    <p:sldId id="298" r:id="rId19"/>
    <p:sldId id="301" r:id="rId20"/>
    <p:sldId id="300" r:id="rId21"/>
    <p:sldId id="329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0060"/>
    <a:srgbClr val="FFFFFF"/>
    <a:srgbClr val="E7ABD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36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ED317-A77B-4EE4-AFE9-C3EEF805DE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91C4A-6211-45E0-9094-07889331A9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各位老师，上午好！</a:t>
            </a:r>
            <a:endParaRPr lang="zh-CN" altLang="en-US" dirty="0"/>
          </a:p>
          <a:p>
            <a:pPr algn="just"/>
            <a:r>
              <a:rPr lang="zh-CN" altLang="en-US" dirty="0"/>
              <a:t>我是2024级电子信息专业的硕士生解晓鹏，我的指导教师是葛季栋</a:t>
            </a:r>
            <a:r>
              <a:rPr lang="zh-CN" altLang="en-US" dirty="0"/>
              <a:t>老师。我答辩的题目是《面向人机对话场景的大模型智能质检系统的设计与实现》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我将从项目背景、需求分析、系统设计、系统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实现这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四个部分进行汇报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</a:t>
            </a:r>
            <a:r>
              <a:rPr lang="zh-CN" altLang="en-US" dirty="0"/>
              <a:t>是项目背景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首先介绍项目背景，随着大模型在对话场景的广泛应用，传统的质检手段面临三大核心挑战。</a:t>
            </a:r>
            <a:endParaRPr lang="zh-CN" altLang="en-US"/>
          </a:p>
          <a:p>
            <a:r>
              <a:rPr lang="zh-CN" altLang="en-US"/>
              <a:t>第一，质检低效且昂贵。传统人工抽检覆盖率极低，且存在认知偏差。</a:t>
            </a:r>
            <a:endParaRPr lang="zh-CN" altLang="en-US"/>
          </a:p>
          <a:p>
            <a:r>
              <a:rPr lang="zh-CN" altLang="en-US"/>
              <a:t>第二，评估黑盒化。难以量化评估</a:t>
            </a:r>
            <a:r>
              <a:rPr lang="en-US" altLang="zh-CN"/>
              <a:t>AI</a:t>
            </a:r>
            <a:r>
              <a:rPr lang="zh-CN" altLang="en-US"/>
              <a:t>生成内容的准确性、事实性及安全性。</a:t>
            </a:r>
            <a:endParaRPr lang="zh-CN" altLang="en-US"/>
          </a:p>
          <a:p>
            <a:r>
              <a:rPr lang="zh-CN" altLang="en-US"/>
              <a:t>第三，数据价值流失。海量交互往往是“阅后即焚”，未能沉淀为数据资产驱动模型迭代。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i="0" u="none" strike="noStrike">
                <a:solidFill>
                  <a:schemeClr val="tx1"/>
                </a:solidFill>
                <a:sym typeface="Songti SC"/>
              </a:rPr>
              <a:t>针对当前的痛点，本文</a:t>
            </a:r>
            <a:r>
              <a:rPr lang="zh-CN" altLang="en-US" b="1" i="0" u="none" strike="noStrike">
                <a:solidFill>
                  <a:schemeClr val="tx1"/>
                </a:solidFill>
                <a:sym typeface="Songti SC"/>
              </a:rPr>
              <a:t>的系统提出了三大核心解决方案：</a:t>
            </a:r>
            <a:endParaRPr lang="en-US" altLang="zh-CN" b="1" i="0" u="none" strike="noStrike">
              <a:solidFill>
                <a:schemeClr val="tx1"/>
              </a:solidFill>
              <a:sym typeface="Songti SC"/>
            </a:endParaRPr>
          </a:p>
          <a:p>
            <a:r>
              <a:rPr lang="zh-CN" altLang="en-US" b="1" i="0" u="none" strike="noStrike">
                <a:solidFill>
                  <a:schemeClr val="tx1"/>
                </a:solidFill>
                <a:sym typeface="Songti SC"/>
              </a:rPr>
              <a:t>智能评分引擎：系统构建了基于大模型的多维评分体系，支持两种质检模式——周期质检和非周期质检。这样既可以实现批量快速质检，也可以进行定时抽检，保证质检的全面性和灵活性。</a:t>
            </a:r>
            <a:endParaRPr lang="zh-CN" altLang="en-US" b="1" i="0" u="none" strike="noStrike">
              <a:solidFill>
                <a:schemeClr val="tx1"/>
              </a:solidFill>
              <a:sym typeface="Songti SC"/>
            </a:endParaRPr>
          </a:p>
          <a:p>
            <a:r>
              <a:rPr lang="zh-CN" altLang="en-US" b="1" i="0" u="none" strike="noStrike">
                <a:solidFill>
                  <a:schemeClr val="tx1"/>
                </a:solidFill>
                <a:sym typeface="Songti SC"/>
              </a:rPr>
              <a:t>人机协同辅助机制：在质检过程中引入标准化人工复核。人工质检结果会反哺大模型，为下一轮评分提供参考示例。通过人机结合，我们能够显著提升质检的准确性和可靠性。</a:t>
            </a:r>
            <a:endParaRPr lang="zh-CN" altLang="en-US" b="1" i="0" u="none" strike="noStrike">
              <a:solidFill>
                <a:schemeClr val="tx1"/>
              </a:solidFill>
              <a:sym typeface="Songti SC"/>
            </a:endParaRPr>
          </a:p>
          <a:p>
            <a:r>
              <a:rPr lang="zh-CN" altLang="en-US" b="1" i="0" u="none" strike="noStrike">
                <a:solidFill>
                  <a:schemeClr val="tx1"/>
                </a:solidFill>
                <a:sym typeface="Songti SC"/>
              </a:rPr>
              <a:t>长期记忆与用户画像：系统可以记录用户的偏好和行为习</a:t>
            </a:r>
            <a:endParaRPr lang="zh-CN" altLang="en-US" b="1" i="0" u="none" strike="noStrike">
              <a:solidFill>
                <a:schemeClr val="tx1"/>
              </a:solidFill>
              <a:sym typeface="Songti SC"/>
            </a:endParaRPr>
          </a:p>
          <a:p>
            <a:pPr>
              <a:lnSpc>
                <a:spcPct val="130000"/>
              </a:lnSpc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经过这样的工作，大模型质检</a:t>
            </a:r>
            <a:r>
              <a:rPr lang="zh-CN" altLang="en-US"/>
              <a:t>系统与传统系统相比，实现了100%全量自动化质检，周期性+非周期性的全方位监控，最终将数据转化为结构化的长期记忆与用户画像。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这是质检系统的应用场景，服务于智能客服质量监控、风控</a:t>
            </a:r>
            <a:r>
              <a:rPr lang="zh-CN" altLang="en-US"/>
              <a:t>审计及模型迭代。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第二部分，</a:t>
            </a:r>
            <a:r>
              <a:rPr lang="zh-CN" altLang="en-US" dirty="0"/>
              <a:t>是需求分析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系统主要服务于两类角色：业务运营人员和人工质检员。业务运营</a:t>
            </a:r>
            <a:r>
              <a:rPr lang="zh-CN" altLang="en-US"/>
              <a:t>人员作为系统的主要使用者，可以使用五大核心功能：查询质检结果、查询质检记忆数据、与 </a:t>
            </a:r>
            <a:r>
              <a:rPr lang="en-US" altLang="zh-CN"/>
              <a:t>AI </a:t>
            </a:r>
            <a:r>
              <a:rPr lang="zh-CN" altLang="en-US"/>
              <a:t>对话产生数据、发起周期性任务质检以及非周期性任务质检。</a:t>
            </a:r>
            <a:endParaRPr lang="zh-CN" altLang="en-US"/>
          </a:p>
          <a:p>
            <a:r>
              <a:rPr lang="zh-CN" altLang="en-US"/>
              <a:t>第二类是人工质检人员，承接系统派发的高风险工单，按标准模板对对话</a:t>
            </a:r>
            <a:r>
              <a:rPr lang="zh-CN" altLang="en-US"/>
              <a:t>进行打分，并输出标注数据反哺模型，形成人机协同闭环。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第三部分，系统设计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本系统的架构设计采用分层设计。</a:t>
            </a:r>
            <a:endParaRPr lang="zh-CN" altLang="en-US"/>
          </a:p>
          <a:p>
            <a:r>
              <a:rPr lang="zh-CN" altLang="en-US"/>
              <a:t>应用层：为用户提供了直接的操作界面或接口，采用</a:t>
            </a:r>
            <a:r>
              <a:rPr lang="en-US" altLang="zh-CN"/>
              <a:t>Vue</a:t>
            </a:r>
            <a:r>
              <a:rPr lang="zh-CN" altLang="en-US"/>
              <a:t>实现的</a:t>
            </a:r>
            <a:r>
              <a:rPr lang="en-US" altLang="zh-CN"/>
              <a:t>xxx,</a:t>
            </a:r>
            <a:r>
              <a:rPr lang="zh-CN" altLang="en-US"/>
              <a:t>以及</a:t>
            </a:r>
            <a:r>
              <a:rPr lang="en-US" altLang="zh-CN"/>
              <a:t>Prometheus</a:t>
            </a:r>
            <a:r>
              <a:rPr lang="zh-CN" altLang="en-US"/>
              <a:t>的</a:t>
            </a:r>
            <a:r>
              <a:rPr lang="en-US" altLang="zh-CN"/>
              <a:t>Web</a:t>
            </a:r>
            <a:r>
              <a:rPr lang="zh-CN" altLang="en-US"/>
              <a:t>，</a:t>
            </a:r>
            <a:endParaRPr lang="en-US" altLang="zh-CN"/>
          </a:p>
          <a:p>
            <a:r>
              <a:rPr lang="zh-CN" altLang="en-US"/>
              <a:t>业务层：实现系统的关键处理逻辑，包括，轻量级的业务服务接入</a:t>
            </a:r>
            <a:r>
              <a:rPr lang="en-US" altLang="zh-CN"/>
              <a:t>SDK</a:t>
            </a:r>
            <a:r>
              <a:rPr lang="zh-CN" altLang="en-US"/>
              <a:t>，采用</a:t>
            </a:r>
            <a:r>
              <a:rPr lang="en-US" altLang="zh-CN"/>
              <a:t>--Netty</a:t>
            </a:r>
            <a:r>
              <a:rPr lang="zh-CN" altLang="en-US"/>
              <a:t>实现的网关服务，基于</a:t>
            </a:r>
            <a:r>
              <a:rPr lang="en-US" altLang="zh-CN"/>
              <a:t>SpringBoot</a:t>
            </a:r>
            <a:r>
              <a:rPr lang="zh-CN" altLang="en-US"/>
              <a:t>实现的运维管理后台，基于</a:t>
            </a:r>
            <a:r>
              <a:rPr lang="en-US" altLang="zh-CN"/>
              <a:t>Kafka</a:t>
            </a:r>
            <a:r>
              <a:rPr lang="zh-CN" altLang="en-US"/>
              <a:t>实现数据同步。</a:t>
            </a:r>
            <a:endParaRPr lang="zh-CN" altLang="en-US"/>
          </a:p>
          <a:p>
            <a:r>
              <a:rPr lang="zh-CN" altLang="en-US"/>
              <a:t>存储层：实现系统的数据存储，采用</a:t>
            </a:r>
            <a:r>
              <a:rPr lang="en-US" altLang="zh-CN"/>
              <a:t>MySQL</a:t>
            </a:r>
            <a:r>
              <a:rPr lang="zh-CN" altLang="en-US"/>
              <a:t>存储规则等信息，采用</a:t>
            </a:r>
            <a:r>
              <a:rPr lang="en-US" altLang="zh-CN"/>
              <a:t>Etcd</a:t>
            </a:r>
            <a:r>
              <a:rPr lang="zh-CN" altLang="en-US"/>
              <a:t>实现的注册中心存储服务、实例等信息，采用</a:t>
            </a:r>
            <a:r>
              <a:rPr lang="en-US" altLang="zh-CN"/>
              <a:t>ES</a:t>
            </a:r>
            <a:r>
              <a:rPr lang="zh-CN" altLang="en-US"/>
              <a:t>实现日志数据的存储和全文检索。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然后是系统模块划分。系统划分为七个模块</a:t>
            </a:r>
            <a:endParaRPr lang="zh-CN" altLang="en-US"/>
          </a:p>
          <a:p>
            <a:r>
              <a:rPr lang="zh-CN" altLang="en-US">
                <a:sym typeface="+mn-ea"/>
              </a:rPr>
              <a:t>业务服务接入模块，负责通过注解进行多种类型服务的接入。</a:t>
            </a:r>
            <a:endParaRPr lang="zh-CN" altLang="en-US"/>
          </a:p>
          <a:p>
            <a:r>
              <a:rPr lang="zh-CN" altLang="en-US">
                <a:sym typeface="+mn-ea"/>
              </a:rPr>
              <a:t>通信协议转换模块，负责对用户的请求解析并转换为目标服务的协议、然后进行泛化调用响应。</a:t>
            </a:r>
            <a:endParaRPr lang="zh-CN" altLang="en-US"/>
          </a:p>
          <a:p>
            <a:r>
              <a:rPr lang="zh-CN" altLang="en-US">
                <a:sym typeface="+mn-ea"/>
              </a:rPr>
              <a:t>动态插件管理模块，负责插件的定义、加载、编排管理。</a:t>
            </a:r>
            <a:endParaRPr lang="zh-CN" altLang="en-US"/>
          </a:p>
          <a:p>
            <a:r>
              <a:rPr lang="zh-CN" altLang="en-US">
                <a:sym typeface="+mn-ea"/>
              </a:rPr>
              <a:t>运维管理模块，负责对服务、实例、插件、规则等信息查询、添加管理</a:t>
            </a:r>
            <a:endParaRPr lang="zh-CN" altLang="en-US"/>
          </a:p>
          <a:p>
            <a:r>
              <a:rPr lang="zh-CN" altLang="en-US">
                <a:sym typeface="+mn-ea"/>
              </a:rPr>
              <a:t>监控告警模块，负责对网关、机器节点的监控指标采集、查看分析、告警通知。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信息配置管理模块：实现服务、配置信息的管理。服通用模块，负责缓存、数据同步。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本系统的业务基本流程为</a:t>
            </a:r>
            <a:endParaRPr lang="zh-CN" altLang="en-US"/>
          </a:p>
          <a:p>
            <a:r>
              <a:rPr lang="zh-CN" altLang="en-US"/>
              <a:t>首先，开发人员定义插件并运行网关服务，引入本</a:t>
            </a:r>
            <a:r>
              <a:rPr lang="en-US" altLang="zh-CN"/>
              <a:t>SDK</a:t>
            </a:r>
            <a:r>
              <a:rPr lang="zh-CN" altLang="en-US"/>
              <a:t>并开发业务服务。然后，运维人员在运维管理后台编排插件、添加规则，为</a:t>
            </a:r>
            <a:r>
              <a:rPr lang="en-US" altLang="zh-CN"/>
              <a:t>API</a:t>
            </a:r>
            <a:r>
              <a:rPr lang="zh-CN" altLang="en-US"/>
              <a:t>接口配置规则。请求用户再请求网关，网关进行中间过滤并响应。运维人员则可在运维管理后台及监控系统查看相关指标信息。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数据库设计，左图展示了本系统的表结构和关系。</a:t>
            </a:r>
            <a:endParaRPr lang="zh-CN" altLang="en-US"/>
          </a:p>
          <a:p>
            <a:r>
              <a:rPr lang="zh-CN" altLang="en-US"/>
              <a:t>右边三张表则展示了本系统的关键的表设计。分布为插件表、插件配置表、规则表。</a:t>
            </a:r>
            <a:endParaRPr lang="zh-CN" altLang="en-US"/>
          </a:p>
          <a:p>
            <a:r>
              <a:rPr lang="zh-CN" altLang="en-US"/>
              <a:t>插件表，描述，包括</a:t>
            </a:r>
            <a:r>
              <a:rPr lang="en-US" altLang="zh-CN"/>
              <a:t>xxx</a:t>
            </a:r>
            <a:r>
              <a:rPr lang="zh-CN" altLang="en-US"/>
              <a:t>字段。</a:t>
            </a:r>
            <a:endParaRPr lang="zh-CN" altLang="en-US"/>
          </a:p>
          <a:p>
            <a:r>
              <a:rPr lang="en-US" altLang="zh-CN"/>
              <a:t>xx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第四部分，系统实现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ECA3-E5F4-44CA-BF21-128C334BA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左图则展示了通过</a:t>
            </a:r>
            <a:r>
              <a:rPr lang="en-US" altLang="zh-CN"/>
              <a:t>API</a:t>
            </a:r>
            <a:r>
              <a:rPr lang="zh-CN" altLang="en-US"/>
              <a:t>网关进行</a:t>
            </a:r>
            <a:r>
              <a:rPr lang="en-US" altLang="zh-CN"/>
              <a:t>Dubbo</a:t>
            </a:r>
            <a:r>
              <a:rPr lang="zh-CN" altLang="en-US"/>
              <a:t>服务类型调用的效果，右图展示了进行</a:t>
            </a:r>
            <a:r>
              <a:rPr lang="en-US" altLang="zh-CN"/>
              <a:t>SpringMVC</a:t>
            </a:r>
            <a:r>
              <a:rPr lang="zh-CN" altLang="en-US"/>
              <a:t>服务的调用效果。表明了本系统对</a:t>
            </a:r>
            <a:r>
              <a:rPr lang="en-US" altLang="zh-CN"/>
              <a:t>Dubbo</a:t>
            </a:r>
            <a:r>
              <a:rPr lang="zh-CN" altLang="en-US"/>
              <a:t>、</a:t>
            </a:r>
            <a:r>
              <a:rPr lang="en-US" altLang="zh-CN"/>
              <a:t>SpringMVC</a:t>
            </a:r>
            <a:r>
              <a:rPr lang="zh-CN" altLang="en-US"/>
              <a:t>的服务代理及其协议转换的能力。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监控告警，</a:t>
            </a:r>
            <a:endParaRPr lang="zh-CN" altLang="en-US"/>
          </a:p>
          <a:p>
            <a:r>
              <a:rPr lang="zh-CN" altLang="en-US"/>
              <a:t>该图展示了，通过</a:t>
            </a:r>
            <a:r>
              <a:rPr lang="en-US" altLang="zh-CN"/>
              <a:t>Prometheus  Web</a:t>
            </a:r>
            <a:r>
              <a:rPr lang="zh-CN" altLang="en-US"/>
              <a:t>进行查看</a:t>
            </a:r>
            <a:r>
              <a:rPr lang="en-US" altLang="zh-CN"/>
              <a:t>API</a:t>
            </a:r>
            <a:r>
              <a:rPr lang="zh-CN" altLang="en-US"/>
              <a:t>调用统计指标情况的效果。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运维管理：</a:t>
            </a:r>
            <a:endParaRPr lang="zh-CN" altLang="en-US"/>
          </a:p>
          <a:p>
            <a:r>
              <a:rPr lang="zh-CN" altLang="en-US"/>
              <a:t>左上图展示了服务列表的效果图，左下图则展示了插件的基本信息情况列表。</a:t>
            </a:r>
            <a:endParaRPr lang="zh-CN" altLang="en-US"/>
          </a:p>
          <a:p>
            <a:r>
              <a:rPr lang="zh-CN" altLang="en-US">
                <a:sym typeface="+mn-ea"/>
              </a:rPr>
              <a:t>运维人员可在运维管理后台界面进行服务定义信息的查询。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右图展示了，通过</a:t>
            </a:r>
            <a:r>
              <a:rPr lang="en-US" altLang="zh-CN"/>
              <a:t>JSON</a:t>
            </a:r>
            <a:r>
              <a:rPr lang="zh-CN" altLang="en-US"/>
              <a:t>格式进行规则添加，通过规则可以为</a:t>
            </a:r>
            <a:r>
              <a:rPr lang="en-US" altLang="zh-CN"/>
              <a:t>API</a:t>
            </a:r>
            <a:r>
              <a:rPr lang="zh-CN" altLang="en-US"/>
              <a:t>接口配置规则实现插件过滤的能力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以上是我答辩的所有</a:t>
            </a:r>
            <a:r>
              <a:rPr lang="zh-CN" altLang="en-US"/>
              <a:t>内容，敬请各位老师批评指正！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68769-642E-4348-AB74-8468C65676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9258E-6FC6-4E1F-AC94-5F6B738527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2974340"/>
            <a:ext cx="12192000" cy="1755140"/>
          </a:xfrm>
          <a:prstGeom prst="rect">
            <a:avLst/>
          </a:prstGeom>
          <a:solidFill>
            <a:srgbClr val="6B0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000" y="3561715"/>
            <a:ext cx="10815955" cy="815340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面向人机对话场景的大模型智能质检系统</a:t>
            </a:r>
            <a:br>
              <a:rPr lang="en-US" sz="4400"/>
            </a:br>
            <a:r>
              <a:rPr lang="en-US" sz="4400" b="1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的设计与实现</a:t>
            </a:r>
            <a:endParaRPr lang="zh-CN" altLang="en-US" sz="4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5644775"/>
            <a:ext cx="9144000" cy="447649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6B0060"/>
                </a:solidFill>
              </a:rPr>
              <a:t>答辩人：</a:t>
            </a:r>
            <a:r>
              <a:rPr lang="zh-CN" altLang="en-US" dirty="0"/>
              <a:t>解晓鹏</a:t>
            </a:r>
            <a:r>
              <a:rPr lang="en-US" altLang="zh-CN" dirty="0"/>
              <a:t>        </a:t>
            </a:r>
            <a:r>
              <a:rPr lang="zh-CN" altLang="en-US" b="1" dirty="0">
                <a:solidFill>
                  <a:srgbClr val="6B0060"/>
                </a:solidFill>
              </a:rPr>
              <a:t>导师：</a:t>
            </a:r>
            <a:r>
              <a:rPr lang="zh-CN" altLang="en-US" dirty="0"/>
              <a:t>葛季栋</a:t>
            </a:r>
            <a:r>
              <a:rPr lang="en-US" altLang="zh-CN" dirty="0"/>
              <a:t> </a:t>
            </a:r>
            <a:r>
              <a:rPr lang="zh-CN" altLang="en-US" dirty="0"/>
              <a:t>副教授</a:t>
            </a:r>
            <a:r>
              <a:rPr lang="en-US" altLang="zh-CN" dirty="0"/>
              <a:t>          </a:t>
            </a:r>
            <a:r>
              <a:rPr lang="zh-CN" altLang="en-US" b="1" dirty="0">
                <a:solidFill>
                  <a:srgbClr val="6B0060"/>
                </a:solidFill>
              </a:rPr>
              <a:t>时间：</a:t>
            </a:r>
            <a:r>
              <a:rPr lang="en-US" altLang="zh-CN" dirty="0"/>
              <a:t>2026.05.06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 flipV="1">
            <a:off x="318083" y="4417868"/>
            <a:ext cx="1155583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42" y="251084"/>
            <a:ext cx="4038600" cy="7143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2" y="657408"/>
            <a:ext cx="2335634" cy="210417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187547" y="2114514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6B0060"/>
                </a:solidFill>
              </a:rPr>
              <a:t>硕士毕业论文答辩</a:t>
            </a:r>
            <a:endParaRPr lang="zh-CN" altLang="en-US" sz="3200" b="1" dirty="0">
              <a:solidFill>
                <a:srgbClr val="6B0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79834" y="1709995"/>
            <a:ext cx="2725425" cy="90810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/>
              <a:t>项目背景</a:t>
            </a:r>
            <a:endParaRPr lang="en-US" altLang="zh-CN" sz="2800" b="1" dirty="0"/>
          </a:p>
        </p:txBody>
      </p:sp>
      <p:sp>
        <p:nvSpPr>
          <p:cNvPr id="6" name="矩形 5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487551" y="3063754"/>
            <a:ext cx="1516020" cy="1474318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525813" y="3370029"/>
            <a:ext cx="143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41668" y="3877106"/>
            <a:ext cx="24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CONTENTS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798409" y="1867275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798409" y="1867275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9834" y="2190386"/>
            <a:ext cx="218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Project Background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副标题 2"/>
          <p:cNvSpPr txBox="1"/>
          <p:nvPr/>
        </p:nvSpPr>
        <p:spPr>
          <a:xfrm>
            <a:off x="6379834" y="2777718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需求分析</a:t>
            </a:r>
            <a:endParaRPr lang="en-US" altLang="zh-CN" sz="2800" b="1" dirty="0"/>
          </a:p>
        </p:txBody>
      </p:sp>
      <p:sp>
        <p:nvSpPr>
          <p:cNvPr id="21" name="椭圆 20"/>
          <p:cNvSpPr/>
          <p:nvPr/>
        </p:nvSpPr>
        <p:spPr>
          <a:xfrm>
            <a:off x="5798409" y="2934998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5798409" y="2934998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79834" y="3313396"/>
            <a:ext cx="201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Requirement Analysis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副标题 2"/>
          <p:cNvSpPr txBox="1"/>
          <p:nvPr/>
        </p:nvSpPr>
        <p:spPr>
          <a:xfrm>
            <a:off x="6379834" y="3769801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系统设计</a:t>
            </a:r>
            <a:endParaRPr lang="en-US" altLang="zh-CN" sz="2800" b="1" dirty="0"/>
          </a:p>
        </p:txBody>
      </p:sp>
      <p:sp>
        <p:nvSpPr>
          <p:cNvPr id="25" name="椭圆 24"/>
          <p:cNvSpPr/>
          <p:nvPr/>
        </p:nvSpPr>
        <p:spPr>
          <a:xfrm>
            <a:off x="5798409" y="3927081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798409" y="3927081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79834" y="4250192"/>
            <a:ext cx="2601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Design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副标题 2"/>
          <p:cNvSpPr txBox="1"/>
          <p:nvPr/>
        </p:nvSpPr>
        <p:spPr>
          <a:xfrm>
            <a:off x="6379834" y="4760671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 dirty="0"/>
              <a:t>系统实现</a:t>
            </a:r>
            <a:endParaRPr lang="en-US" altLang="zh-CN" sz="2800" b="1" dirty="0"/>
          </a:p>
        </p:txBody>
      </p:sp>
      <p:sp>
        <p:nvSpPr>
          <p:cNvPr id="29" name="椭圆 28"/>
          <p:cNvSpPr/>
          <p:nvPr/>
        </p:nvSpPr>
        <p:spPr>
          <a:xfrm>
            <a:off x="5798409" y="4917951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5798409" y="4917951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14692" y="5325238"/>
            <a:ext cx="2205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System Implementation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one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988036" y="3527513"/>
            <a:ext cx="1999276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Project Background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项目背景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2"/>
          <p:cNvSpPr txBox="1"/>
          <p:nvPr/>
        </p:nvSpPr>
        <p:spPr>
          <a:xfrm>
            <a:off x="0" y="155575"/>
            <a:ext cx="4867910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01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项目背景</a:t>
            </a: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-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核心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挑战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7" name="椭圆 29"/>
          <p:cNvSpPr/>
          <p:nvPr/>
        </p:nvSpPr>
        <p:spPr bwMode="auto">
          <a:xfrm>
            <a:off x="4264013" y="2449357"/>
            <a:ext cx="3085729" cy="3085728"/>
          </a:xfrm>
          <a:prstGeom prst="ellipse">
            <a:avLst/>
          </a:prstGeom>
          <a:noFill/>
          <a:ln w="44450" cap="flat">
            <a:solidFill>
              <a:srgbClr val="6B006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 err="1">
              <a:solidFill>
                <a:schemeClr val="accent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8" name="文本框 28"/>
          <p:cNvSpPr txBox="1"/>
          <p:nvPr/>
        </p:nvSpPr>
        <p:spPr>
          <a:xfrm>
            <a:off x="5110957" y="3475590"/>
            <a:ext cx="1436291" cy="861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三大核心</a:t>
            </a:r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挑战</a:t>
            </a:r>
            <a:endParaRPr lang="zh-CN" altLang="en-US" sz="2800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9" name="组合 209"/>
          <p:cNvGrpSpPr>
            <a:grpSpLocks noChangeAspect="1"/>
          </p:cNvGrpSpPr>
          <p:nvPr/>
        </p:nvGrpSpPr>
        <p:grpSpPr>
          <a:xfrm>
            <a:off x="5203373" y="1897999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10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11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 dirty="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3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3" name="组合 209"/>
          <p:cNvGrpSpPr>
            <a:grpSpLocks noChangeAspect="1"/>
          </p:cNvGrpSpPr>
          <p:nvPr/>
        </p:nvGrpSpPr>
        <p:grpSpPr>
          <a:xfrm>
            <a:off x="3881726" y="406143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4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25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6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7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8" name="组合 209"/>
          <p:cNvGrpSpPr>
            <a:grpSpLocks noChangeAspect="1"/>
          </p:cNvGrpSpPr>
          <p:nvPr/>
        </p:nvGrpSpPr>
        <p:grpSpPr>
          <a:xfrm>
            <a:off x="6571037" y="406143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3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sp>
        <p:nvSpPr>
          <p:cNvPr id="45" name="对话气泡: 矩形 44"/>
          <p:cNvSpPr/>
          <p:nvPr/>
        </p:nvSpPr>
        <p:spPr>
          <a:xfrm>
            <a:off x="100330" y="3283585"/>
            <a:ext cx="3313430" cy="2407920"/>
          </a:xfrm>
          <a:prstGeom prst="wedgeRectCallout">
            <a:avLst>
              <a:gd name="adj1" fmla="val 80203"/>
              <a:gd name="adj2" fmla="val 9296"/>
            </a:avLst>
          </a:prstGeom>
          <a:solidFill>
            <a:srgbClr val="E7ABDC">
              <a:alpha val="20000"/>
            </a:srgb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Songti SC"/>
              </a:rPr>
              <a:t>评估黑盒化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Songti SC"/>
            </a:endParaRPr>
          </a:p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难以准确、量化地评估Al生成回复的准确性、连贯性、安全性与事实性</a:t>
            </a:r>
            <a:r>
              <a:rPr lang="zh-CN" altLang="en-US" sz="1600">
                <a:solidFill>
                  <a:srgbClr val="3C3C3C"/>
                </a:solidFill>
                <a:latin typeface="Songti SC"/>
                <a:ea typeface="Songti SC"/>
                <a:cs typeface="Songti SC"/>
                <a:sym typeface="Songti SC"/>
              </a:rPr>
              <a:t>。</a:t>
            </a: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6" name="对话气泡: 矩形 45"/>
          <p:cNvSpPr/>
          <p:nvPr/>
        </p:nvSpPr>
        <p:spPr>
          <a:xfrm>
            <a:off x="346710" y="1000760"/>
            <a:ext cx="4215765" cy="1996440"/>
          </a:xfrm>
          <a:prstGeom prst="wedgeRectCallout">
            <a:avLst>
              <a:gd name="adj1" fmla="val 80206"/>
              <a:gd name="adj2" fmla="val 41512"/>
            </a:avLst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Songti SC"/>
              </a:rPr>
              <a:t>质检低效昂贵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传统人工抽检覆盖率极低,在规模化生产环境中成本高昂且存在认知偏差。</a:t>
            </a:r>
            <a:endParaRPr lang="zh-CN" altLang="en-US" sz="1600" b="1" dirty="0">
              <a:solidFill>
                <a:schemeClr val="tx1"/>
              </a:solidFill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600" b="1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sp>
        <p:nvSpPr>
          <p:cNvPr id="47" name="对话气泡: 矩形 46"/>
          <p:cNvSpPr/>
          <p:nvPr/>
        </p:nvSpPr>
        <p:spPr>
          <a:xfrm>
            <a:off x="8199755" y="1943100"/>
            <a:ext cx="3705860" cy="3053080"/>
          </a:xfrm>
          <a:prstGeom prst="wedgeRectCallout">
            <a:avLst>
              <a:gd name="adj1" fmla="val -67236"/>
              <a:gd name="adj2" fmla="val 4389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Songti SC"/>
              </a:rPr>
              <a:t>数据价值流失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质检结果未能形成闭环，海量交互阅后即焚，无法沉淀为用户画像或驱动模型送代。</a:t>
            </a:r>
            <a:endParaRPr lang="zh-CN" altLang="en-US" sz="1600" b="0" i="0" u="none" strike="noStrike">
              <a:solidFill>
                <a:srgbClr val="3C3C3C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08000"/>
              </a:lnSpc>
            </a:pPr>
            <a:endParaRPr lang="zh-CN" altLang="en-US" sz="1600" b="0" i="0" u="none" strike="noStrike">
              <a:solidFill>
                <a:srgbClr val="3C3C3C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>
              <a:lnSpc>
                <a:spcPct val="130000"/>
              </a:lnSpc>
            </a:pPr>
            <a:endParaRPr lang="zh-CN" altLang="en-US" b="1" u="sng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424170" y="1990090"/>
            <a:ext cx="765175" cy="11150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02100" y="4174490"/>
            <a:ext cx="765175" cy="11150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91960" y="4174490"/>
            <a:ext cx="765175" cy="11150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200400" y="6089650"/>
            <a:ext cx="52120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大模型智能</a:t>
            </a:r>
            <a:r>
              <a:rPr lang="zh-CN" altLang="en-US" sz="4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质检系统</a:t>
            </a:r>
            <a:endParaRPr lang="zh-CN" altLang="en-US" sz="4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1" name="下箭头 50"/>
          <p:cNvSpPr/>
          <p:nvPr/>
        </p:nvSpPr>
        <p:spPr>
          <a:xfrm>
            <a:off x="5369560" y="5580380"/>
            <a:ext cx="919480" cy="4641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2.08333E-7 -2.22222E-6 L -2.08333E-7 0.0257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" fill="hold"/>
                                        <p:tgtEl>
                                          <p:spTgt spid="28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" fill="hold"/>
                                        <p:tgtEl>
                                          <p:spTgt spid="23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11111E-6 L -2.91667E-6 -0.02662 " pathEditMode="relative" rAng="0" ptsTypes="AA">
                                      <p:cBhvr>
                                        <p:cTn id="30" dur="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40741E-7 L 8.33333E-7 -0.02662 " pathEditMode="relative" rAng="0" ptsTypes="AA">
                                      <p:cBhvr>
                                        <p:cTn id="36" dur="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07407E-6 L -2.70833E-6 -0.02662 " pathEditMode="relative" rAng="0" ptsTypes="AA">
                                      <p:cBhvr>
                                        <p:cTn id="42" dur="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  <p:bldP spid="8" grpId="1"/>
      <p:bldP spid="45" grpId="0" bldLvl="0" animBg="1"/>
      <p:bldP spid="45" grpId="1" bldLvl="0" animBg="1"/>
      <p:bldP spid="46" grpId="0" bldLvl="0" animBg="1"/>
      <p:bldP spid="46" grpId="1" bldLvl="0" animBg="1"/>
      <p:bldP spid="47" grpId="0" bldLvl="0" animBg="1"/>
      <p:bldP spid="47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2"/>
          <p:cNvSpPr txBox="1"/>
          <p:nvPr/>
        </p:nvSpPr>
        <p:spPr>
          <a:xfrm>
            <a:off x="0" y="155575"/>
            <a:ext cx="4867910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01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项目背景</a:t>
            </a: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-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核心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挑战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7" name="椭圆 29"/>
          <p:cNvSpPr/>
          <p:nvPr/>
        </p:nvSpPr>
        <p:spPr bwMode="auto">
          <a:xfrm>
            <a:off x="4345928" y="3511077"/>
            <a:ext cx="3085729" cy="3085728"/>
          </a:xfrm>
          <a:prstGeom prst="ellipse">
            <a:avLst/>
          </a:prstGeom>
          <a:noFill/>
          <a:ln w="44450" cap="flat">
            <a:solidFill>
              <a:srgbClr val="6B006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 err="1">
              <a:solidFill>
                <a:schemeClr val="accent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8" name="文本框 28"/>
          <p:cNvSpPr txBox="1"/>
          <p:nvPr/>
        </p:nvSpPr>
        <p:spPr>
          <a:xfrm>
            <a:off x="5192872" y="4537310"/>
            <a:ext cx="1436291" cy="861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三大核心</a:t>
            </a:r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工作</a:t>
            </a:r>
            <a:endParaRPr lang="zh-CN" altLang="en-US" sz="2800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9" name="组合 209"/>
          <p:cNvGrpSpPr>
            <a:grpSpLocks noChangeAspect="1"/>
          </p:cNvGrpSpPr>
          <p:nvPr/>
        </p:nvGrpSpPr>
        <p:grpSpPr>
          <a:xfrm>
            <a:off x="5285288" y="2959719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10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11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 dirty="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3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3" name="组合 209"/>
          <p:cNvGrpSpPr>
            <a:grpSpLocks noChangeAspect="1"/>
          </p:cNvGrpSpPr>
          <p:nvPr/>
        </p:nvGrpSpPr>
        <p:grpSpPr>
          <a:xfrm>
            <a:off x="3963641" y="512315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4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25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6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7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8" name="组合 209"/>
          <p:cNvGrpSpPr>
            <a:grpSpLocks noChangeAspect="1"/>
          </p:cNvGrpSpPr>
          <p:nvPr/>
        </p:nvGrpSpPr>
        <p:grpSpPr>
          <a:xfrm>
            <a:off x="6652952" y="512315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3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sp>
        <p:nvSpPr>
          <p:cNvPr id="45" name="对话气泡: 矩形 44"/>
          <p:cNvSpPr/>
          <p:nvPr/>
        </p:nvSpPr>
        <p:spPr>
          <a:xfrm>
            <a:off x="182245" y="4345305"/>
            <a:ext cx="3313430" cy="2407920"/>
          </a:xfrm>
          <a:prstGeom prst="wedgeRectCallout">
            <a:avLst>
              <a:gd name="adj1" fmla="val 80203"/>
              <a:gd name="adj2" fmla="val 9296"/>
            </a:avLst>
          </a:prstGeom>
          <a:solidFill>
            <a:srgbClr val="E7ABDC">
              <a:alpha val="20000"/>
            </a:srgb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Songti SC"/>
              </a:rPr>
              <a:t>人机协同辅助机制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Songti SC"/>
            </a:endParaRPr>
          </a:p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标准化人工复核辅助，人工质检结果为下一次大模型质检提供示例，人机结合提高质检</a:t>
            </a: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准确性。</a:t>
            </a:r>
            <a:endParaRPr lang="zh-CN" altLang="en-US" sz="1600" b="1">
              <a:solidFill>
                <a:schemeClr val="tx1"/>
              </a:solidFill>
              <a:sym typeface="Songti SC"/>
            </a:endParaRPr>
          </a:p>
          <a:p>
            <a:pPr>
              <a:lnSpc>
                <a:spcPct val="130000"/>
              </a:lnSpc>
            </a:pPr>
            <a:endParaRPr lang="zh-CN" altLang="en-US" sz="16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6" name="对话气泡: 矩形 45"/>
          <p:cNvSpPr/>
          <p:nvPr/>
        </p:nvSpPr>
        <p:spPr>
          <a:xfrm>
            <a:off x="428625" y="2062480"/>
            <a:ext cx="4215765" cy="1996440"/>
          </a:xfrm>
          <a:prstGeom prst="wedgeRectCallout">
            <a:avLst>
              <a:gd name="adj1" fmla="val 80206"/>
              <a:gd name="adj2" fmla="val 41512"/>
            </a:avLst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大模型</a:t>
            </a: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质检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设计基于大模型的多维评分体系。</a:t>
            </a: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周期质检与非周期质检两种模式，实现批量质检与定时</a:t>
            </a: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质检。</a:t>
            </a:r>
            <a:endParaRPr lang="zh-CN" altLang="en-US" sz="1600" b="1">
              <a:solidFill>
                <a:schemeClr val="tx1"/>
              </a:solidFill>
              <a:sym typeface="Songti SC"/>
            </a:endParaRPr>
          </a:p>
        </p:txBody>
      </p:sp>
      <p:sp>
        <p:nvSpPr>
          <p:cNvPr id="47" name="对话气泡: 矩形 46"/>
          <p:cNvSpPr/>
          <p:nvPr/>
        </p:nvSpPr>
        <p:spPr>
          <a:xfrm>
            <a:off x="8281670" y="3194685"/>
            <a:ext cx="3726815" cy="2832735"/>
          </a:xfrm>
          <a:prstGeom prst="wedgeRectCallout">
            <a:avLst>
              <a:gd name="adj1" fmla="val -67236"/>
              <a:gd name="adj2" fmla="val 4389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记忆与画像构建模块</a:t>
            </a: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长期记忆管理，根据质检结果记录</a:t>
            </a: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用户偏好、行为</a:t>
            </a:r>
            <a:r>
              <a:rPr lang="zh-CN" altLang="en-US" sz="1600" b="1">
                <a:solidFill>
                  <a:schemeClr val="tx1"/>
                </a:solidFill>
                <a:sym typeface="Songti SC"/>
              </a:rPr>
              <a:t>习惯，实现评测数</a:t>
            </a:r>
            <a:r>
              <a:rPr lang="zh-CN" altLang="en-US" sz="1600" b="1" i="0" u="none" strike="noStrike">
                <a:solidFill>
                  <a:schemeClr val="tx1"/>
                </a:solidFill>
                <a:sym typeface="Songti SC"/>
              </a:rPr>
              <a:t>据的持久追踪与个性化支撑。</a:t>
            </a:r>
            <a:endParaRPr lang="zh-CN" altLang="en-US" sz="1600" b="1" i="0" u="none" strike="noStrike">
              <a:solidFill>
                <a:schemeClr val="tx1"/>
              </a:solidFill>
              <a:sym typeface="Songti SC"/>
            </a:endParaRPr>
          </a:p>
          <a:p>
            <a:pPr indent="0" algn="l">
              <a:lnSpc>
                <a:spcPct val="108000"/>
              </a:lnSpc>
            </a:pPr>
            <a:endParaRPr lang="zh-CN" altLang="en-US" sz="1600" b="1" i="0" u="none" strike="noStrike">
              <a:solidFill>
                <a:schemeClr val="tx1"/>
              </a:solidFill>
              <a:sym typeface="Songti SC"/>
            </a:endParaRPr>
          </a:p>
          <a:p>
            <a:pPr indent="0" algn="l">
              <a:lnSpc>
                <a:spcPct val="108000"/>
              </a:lnSpc>
            </a:pPr>
            <a:endParaRPr lang="zh-CN" altLang="en-US" sz="1600" b="0" i="0" u="none" strike="noStrike">
              <a:solidFill>
                <a:srgbClr val="3C3C3C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>
              <a:lnSpc>
                <a:spcPct val="130000"/>
              </a:lnSpc>
            </a:pPr>
            <a:endParaRPr lang="zh-CN" altLang="en-US" b="1" u="sng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16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506085" y="3051810"/>
            <a:ext cx="765175" cy="11150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84015" y="5236210"/>
            <a:ext cx="765175" cy="11150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73875" y="5236210"/>
            <a:ext cx="765175" cy="11150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773170" y="918210"/>
            <a:ext cx="52120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大模型智能</a:t>
            </a:r>
            <a:r>
              <a:rPr lang="zh-CN" altLang="en-US" sz="4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质检系统</a:t>
            </a:r>
            <a:endParaRPr lang="zh-CN" altLang="en-US" sz="4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1" name="下箭头 50"/>
          <p:cNvSpPr/>
          <p:nvPr/>
        </p:nvSpPr>
        <p:spPr>
          <a:xfrm>
            <a:off x="5697855" y="1598295"/>
            <a:ext cx="919480" cy="4641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2.08333E-7 -2.22222E-6 L -2.08333E-7 0.0257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" fill="hold"/>
                                        <p:tgtEl>
                                          <p:spTgt spid="28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mph" presetSubtype="0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" fill="hold"/>
                                        <p:tgtEl>
                                          <p:spTgt spid="23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11111E-6 L -2.91667E-6 -0.02662 " pathEditMode="relative" rAng="0" ptsTypes="AA">
                                      <p:cBhvr>
                                        <p:cTn id="30" dur="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40741E-7 L 8.33333E-7 -0.02662 " pathEditMode="relative" rAng="0" ptsTypes="AA">
                                      <p:cBhvr>
                                        <p:cTn id="36" dur="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07407E-6 L -2.70833E-6 -0.02662 " pathEditMode="relative" rAng="0" ptsTypes="AA">
                                      <p:cBhvr>
                                        <p:cTn id="42" dur="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  <p:bldP spid="8" grpId="1"/>
      <p:bldP spid="45" grpId="0" bldLvl="0" animBg="1"/>
      <p:bldP spid="45" grpId="1" bldLvl="0" animBg="1"/>
      <p:bldP spid="46" grpId="0" bldLvl="0" animBg="1"/>
      <p:bldP spid="46" grpId="1" bldLvl="0" animBg="1"/>
      <p:bldP spid="47" grpId="0" bldLvl="0" animBg="1"/>
      <p:bldP spid="47" grpId="1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0" y="155575"/>
            <a:ext cx="7618095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+mn-ea"/>
                <a:sym typeface="等线" panose="02010600030101010101" pitchFamily="2" charset="-122"/>
              </a:rPr>
              <a:t>01 </a:t>
            </a:r>
            <a:r>
              <a:rPr lang="zh-CN" altLang="en-US" sz="3600" b="1" dirty="0">
                <a:solidFill>
                  <a:schemeClr val="bg1"/>
                </a:solidFill>
                <a:latin typeface="+mn-ea"/>
                <a:sym typeface="等线" panose="02010600030101010101" pitchFamily="2" charset="-122"/>
              </a:rPr>
              <a:t>项目背景</a:t>
            </a:r>
            <a:r>
              <a:rPr lang="en-US" altLang="zh-CN" sz="3600" b="1" dirty="0">
                <a:solidFill>
                  <a:schemeClr val="bg1"/>
                </a:solidFill>
                <a:latin typeface="+mn-ea"/>
                <a:sym typeface="等线" panose="02010600030101010101" pitchFamily="2" charset="-122"/>
              </a:rPr>
              <a:t>-</a:t>
            </a:r>
            <a:r>
              <a:rPr lang="zh-CN" altLang="en-US" sz="3600" b="1" dirty="0">
                <a:solidFill>
                  <a:schemeClr val="bg1"/>
                </a:solidFill>
                <a:latin typeface="+mn-ea"/>
                <a:sym typeface="等线" panose="02010600030101010101" pitchFamily="2" charset="-122"/>
              </a:rPr>
              <a:t>质检系统与应用</a:t>
            </a:r>
            <a:r>
              <a:rPr lang="zh-CN" altLang="en-US" sz="3600" b="1" dirty="0">
                <a:solidFill>
                  <a:schemeClr val="bg1"/>
                </a:solidFill>
                <a:latin typeface="+mn-ea"/>
                <a:sym typeface="等线" panose="02010600030101010101" pitchFamily="2" charset="-122"/>
              </a:rPr>
              <a:t>场景</a:t>
            </a:r>
            <a:endParaRPr lang="zh-CN" altLang="en-US" sz="3600" b="1" dirty="0">
              <a:solidFill>
                <a:schemeClr val="bg1"/>
              </a:solidFill>
              <a:latin typeface="+mn-ea"/>
              <a:sym typeface="等线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5460" y="1427480"/>
            <a:ext cx="4363085" cy="200088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传统质检</a:t>
            </a:r>
            <a:r>
              <a:rPr lang="zh-CN" altLang="en-US" sz="2400"/>
              <a:t>系统的困境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655320" y="1931670"/>
            <a:ext cx="1868170" cy="7600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/>
              <a:t>覆盖率低</a:t>
            </a:r>
            <a:endParaRPr lang="zh-CN" altLang="en-US"/>
          </a:p>
          <a:p>
            <a:pPr algn="ctr"/>
            <a:r>
              <a:rPr lang="zh-CN" altLang="en-US"/>
              <a:t>随机</a:t>
            </a:r>
            <a:r>
              <a:rPr lang="zh-CN" altLang="en-US"/>
              <a:t>抽样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686685" y="1931670"/>
            <a:ext cx="2085975" cy="5029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/>
              <a:t>滞后的离线批</a:t>
            </a:r>
            <a:r>
              <a:rPr lang="zh-CN" altLang="en-US"/>
              <a:t>处理</a:t>
            </a:r>
            <a:r>
              <a:rPr lang="en-US" altLang="zh-CN"/>
              <a:t> </a:t>
            </a:r>
            <a:endParaRPr lang="zh-CN" altLang="en-US"/>
          </a:p>
          <a:p>
            <a:endParaRPr lang="zh-CN" alt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655320" y="2787650"/>
            <a:ext cx="1868170" cy="48768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/>
              <a:t>无</a:t>
            </a:r>
            <a:r>
              <a:rPr lang="zh-CN" altLang="en-US"/>
              <a:t>持续价值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686685" y="2517775"/>
            <a:ext cx="2085975" cy="75755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/>
              <a:t>人工断层，无法自动</a:t>
            </a:r>
            <a:r>
              <a:rPr lang="zh-CN" altLang="en-US"/>
              <a:t>迭代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05460" y="4191635"/>
            <a:ext cx="4363085" cy="22675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大模型质检</a:t>
            </a:r>
            <a:r>
              <a:rPr lang="zh-CN" altLang="en-US" sz="2400"/>
              <a:t>系统核心</a:t>
            </a:r>
            <a:r>
              <a:rPr lang="zh-CN" altLang="en-US" sz="2400"/>
              <a:t>优势</a:t>
            </a:r>
            <a:endParaRPr lang="zh-CN" altLang="en-US" sz="2400"/>
          </a:p>
        </p:txBody>
      </p:sp>
      <p:sp>
        <p:nvSpPr>
          <p:cNvPr id="29" name="文本框 28"/>
          <p:cNvSpPr txBox="1"/>
          <p:nvPr/>
        </p:nvSpPr>
        <p:spPr>
          <a:xfrm>
            <a:off x="655320" y="4775835"/>
            <a:ext cx="2303145" cy="5867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/>
              <a:t>周期性批量监控+</a:t>
            </a:r>
            <a:endParaRPr lang="zh-CN" altLang="en-US"/>
          </a:p>
          <a:p>
            <a:r>
              <a:rPr lang="zh-CN" altLang="en-US"/>
              <a:t>非周期性即时分析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166110" y="4775835"/>
            <a:ext cx="1416685" cy="586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/>
              <a:t>100%全量自动化质检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55320" y="5509260"/>
            <a:ext cx="1609090" cy="8902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/>
              <a:t>结构化长期记忆存储，构建动态用户画像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393950" y="5509260"/>
            <a:ext cx="2188845" cy="8794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/>
              <a:t>将质检结果转化为特征标签，驱动人工协同与模型迭代。</a:t>
            </a:r>
            <a:endParaRPr lang="zh-CN" altLang="en-US"/>
          </a:p>
        </p:txBody>
      </p:sp>
      <p:cxnSp>
        <p:nvCxnSpPr>
          <p:cNvPr id="33" name="直接箭头连接符 32"/>
          <p:cNvCxnSpPr>
            <a:stCxn id="2" idx="2"/>
            <a:endCxn id="27" idx="0"/>
          </p:cNvCxnSpPr>
          <p:nvPr/>
        </p:nvCxnSpPr>
        <p:spPr>
          <a:xfrm>
            <a:off x="2687320" y="3428365"/>
            <a:ext cx="0" cy="763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5577205" y="1188720"/>
            <a:ext cx="6026785" cy="5407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p>
            <a:r>
              <a:rPr lang="zh-CN" altLang="en-US"/>
              <a:t>应用</a:t>
            </a:r>
            <a:r>
              <a:rPr lang="zh-CN" altLang="en-US"/>
              <a:t>场景</a:t>
            </a:r>
            <a:endParaRPr lang="zh-CN" altLang="en-US"/>
          </a:p>
        </p:txBody>
      </p:sp>
      <p:pic>
        <p:nvPicPr>
          <p:cNvPr id="35" name="图片 34" descr="用户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915" y="3121660"/>
            <a:ext cx="1097915" cy="1097915"/>
          </a:xfrm>
          <a:prstGeom prst="rect">
            <a:avLst/>
          </a:prstGeom>
        </p:spPr>
      </p:pic>
      <p:pic>
        <p:nvPicPr>
          <p:cNvPr id="36" name="图片 35" descr="预算管理系统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3745" y="3121660"/>
            <a:ext cx="1073785" cy="1073785"/>
          </a:xfrm>
          <a:prstGeom prst="rect">
            <a:avLst/>
          </a:prstGeom>
        </p:spPr>
      </p:pic>
      <p:sp>
        <p:nvSpPr>
          <p:cNvPr id="38" name="右箭头 37"/>
          <p:cNvSpPr/>
          <p:nvPr/>
        </p:nvSpPr>
        <p:spPr>
          <a:xfrm>
            <a:off x="7090410" y="3251835"/>
            <a:ext cx="959485" cy="3536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左箭头 38"/>
          <p:cNvSpPr/>
          <p:nvPr/>
        </p:nvSpPr>
        <p:spPr>
          <a:xfrm>
            <a:off x="7090410" y="3716020"/>
            <a:ext cx="959485" cy="35369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796280" y="2068195"/>
            <a:ext cx="2152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智能客服质量</a:t>
            </a:r>
            <a:r>
              <a:rPr lang="zh-CN" altLang="en-US"/>
              <a:t>监控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948295" y="1775460"/>
            <a:ext cx="1862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风控与合规</a:t>
            </a:r>
            <a:r>
              <a:rPr lang="zh-CN" altLang="en-US"/>
              <a:t>审计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810750" y="2630170"/>
            <a:ext cx="1334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高价值训练样本</a:t>
            </a:r>
            <a:r>
              <a:rPr lang="zh-CN" altLang="en-US"/>
              <a:t>挖掘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698990" y="4568825"/>
            <a:ext cx="1838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个性化</a:t>
            </a:r>
            <a:r>
              <a:rPr lang="zh-CN" altLang="en-US"/>
              <a:t>支撑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143875" y="5282565"/>
            <a:ext cx="1334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.............</a:t>
            </a:r>
            <a:endParaRPr lang="en-US" altLang="zh-CN"/>
          </a:p>
        </p:txBody>
      </p:sp>
      <p:cxnSp>
        <p:nvCxnSpPr>
          <p:cNvPr id="45" name="直接箭头连接符 44"/>
          <p:cNvCxnSpPr>
            <a:endCxn id="40" idx="2"/>
          </p:cNvCxnSpPr>
          <p:nvPr/>
        </p:nvCxnSpPr>
        <p:spPr>
          <a:xfrm flipH="1" flipV="1">
            <a:off x="6872605" y="2436495"/>
            <a:ext cx="1332230" cy="677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41" idx="2"/>
          </p:cNvCxnSpPr>
          <p:nvPr/>
        </p:nvCxnSpPr>
        <p:spPr>
          <a:xfrm flipV="1">
            <a:off x="8872855" y="2143760"/>
            <a:ext cx="6985" cy="859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42" idx="2"/>
          </p:cNvCxnSpPr>
          <p:nvPr/>
        </p:nvCxnSpPr>
        <p:spPr>
          <a:xfrm flipV="1">
            <a:off x="9479280" y="3275330"/>
            <a:ext cx="998855" cy="438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endCxn id="43" idx="0"/>
          </p:cNvCxnSpPr>
          <p:nvPr/>
        </p:nvCxnSpPr>
        <p:spPr>
          <a:xfrm>
            <a:off x="9529445" y="3992880"/>
            <a:ext cx="1089025" cy="5759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52" idx="2"/>
            <a:endCxn id="44" idx="0"/>
          </p:cNvCxnSpPr>
          <p:nvPr/>
        </p:nvCxnSpPr>
        <p:spPr>
          <a:xfrm flipH="1">
            <a:off x="8811260" y="4771390"/>
            <a:ext cx="110490" cy="511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5638165" y="4316095"/>
            <a:ext cx="1743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业务操作</a:t>
            </a:r>
            <a:r>
              <a:rPr lang="zh-CN" altLang="en-US"/>
              <a:t>人员</a:t>
            </a:r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8049895" y="4403090"/>
            <a:ext cx="1743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</a:t>
            </a:r>
            <a:r>
              <a:rPr lang="zh-CN" altLang="en-US"/>
              <a:t>质检系统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two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97775" y="3539625"/>
            <a:ext cx="2185225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Requirement Analysis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需求分析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02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需求分析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16650" y="1541145"/>
            <a:ext cx="5626735" cy="1908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6B0060"/>
                </a:solidFill>
                <a:latin typeface="+mn-ea"/>
              </a:rPr>
              <a:t>系统运营</a:t>
            </a:r>
            <a:r>
              <a:rPr lang="zh-CN" altLang="en-US" sz="2400" b="1" dirty="0">
                <a:solidFill>
                  <a:srgbClr val="6B0060"/>
                </a:solidFill>
                <a:latin typeface="+mn-ea"/>
              </a:rPr>
              <a:t>人员</a:t>
            </a:r>
            <a:endParaRPr lang="zh-CN" altLang="en-US" sz="2400" b="1" dirty="0">
              <a:solidFill>
                <a:srgbClr val="6B0060"/>
              </a:solidFill>
              <a:latin typeface="+mn-ea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、发起与管理周期性任务(每日/周全量)与非周期性任务(即时抽检/异常追溯)。</a:t>
            </a:r>
            <a:endParaRPr lang="zh-CN" altLang="en-US" dirty="0">
              <a:latin typeface="+mn-ea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、查询多维质检结果及可视化统计报表。</a:t>
            </a:r>
            <a:endParaRPr lang="zh-CN" altLang="en-US" dirty="0">
              <a:latin typeface="+mn-ea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、管理与调用长短期记忆数据,构建用户画像。</a:t>
            </a:r>
            <a:endParaRPr lang="zh-CN" altLang="en-US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90945" y="4161155"/>
            <a:ext cx="5551805" cy="2367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6B0060"/>
                </a:solidFill>
                <a:latin typeface="+mn-ea"/>
              </a:rPr>
              <a:t>人工质检人员</a:t>
            </a:r>
            <a:endParaRPr lang="zh-CN" altLang="en-US" sz="2400" b="1" dirty="0">
              <a:solidFill>
                <a:srgbClr val="6B0060"/>
              </a:solidFill>
              <a:latin typeface="+mn-ea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、承接并处理系统派发的低置信度/高风险工单。 </a:t>
            </a:r>
            <a:endParaRPr lang="zh-CN" altLang="en-US" dirty="0">
              <a:latin typeface="+mn-ea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、依据配置的评测模板,执行标准化打分 </a:t>
            </a:r>
            <a:endParaRPr lang="zh-CN" altLang="en-US" dirty="0">
              <a:latin typeface="+mn-ea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、输出Goodcase/Badcase高质量标注,完成人机</a:t>
            </a:r>
            <a:r>
              <a:rPr lang="zh-CN" altLang="en-US" dirty="0">
                <a:latin typeface="+mn-ea"/>
              </a:rPr>
              <a:t>协同闭环。</a:t>
            </a:r>
            <a:endParaRPr lang="zh-CN" altLang="en-US" dirty="0">
              <a:latin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157595" y="1541145"/>
            <a:ext cx="5799455" cy="240665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57595" y="4161155"/>
            <a:ext cx="5799455" cy="236791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80670" y="1034415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用例分析及需求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73020" y="6335395"/>
            <a:ext cx="14655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600" dirty="0">
                <a:latin typeface="+mn-ea"/>
                <a:sym typeface="+mn-ea"/>
              </a:rPr>
              <a:t>系统</a:t>
            </a:r>
            <a:r>
              <a:rPr lang="zh-CN" altLang="en-US" sz="1600" dirty="0">
                <a:latin typeface="+mn-ea"/>
                <a:sym typeface="+mn-ea"/>
              </a:rPr>
              <a:t>用例图</a:t>
            </a:r>
            <a:endParaRPr lang="zh-CN" altLang="en-US" sz="1600" dirty="0">
              <a:latin typeface="+mn-ea"/>
              <a:sym typeface="+mn-ea"/>
            </a:endParaRPr>
          </a:p>
        </p:txBody>
      </p:sp>
      <p:pic>
        <p:nvPicPr>
          <p:cNvPr id="3" name="图片 2" descr="yongli_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" y="1541145"/>
            <a:ext cx="4046855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02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需求分析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5115" y="3223260"/>
            <a:ext cx="16275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</a:rPr>
              <a:t>功能性需求：</a:t>
            </a:r>
            <a:endParaRPr lang="zh-CN" altLang="en-US" sz="2000" b="1" dirty="0">
              <a:solidFill>
                <a:srgbClr val="6B0060"/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6990" y="3243580"/>
            <a:ext cx="2214880" cy="505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6B0060"/>
                </a:solidFill>
                <a:latin typeface="+mn-ea"/>
              </a:rPr>
              <a:t>非功能性需求：</a:t>
            </a:r>
            <a:endParaRPr lang="zh-CN" altLang="en-US" sz="2000" b="1" dirty="0">
              <a:solidFill>
                <a:srgbClr val="6B0060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7195" y="3853180"/>
            <a:ext cx="5626735" cy="1908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自动质检与评分</a:t>
            </a: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r>
              <a:rPr lang="zh-CN" altLang="en-US" sz="1600" dirty="0">
                <a:latin typeface="+mn-ea"/>
              </a:rPr>
              <a:t>多维度评估，支持周期/非周期任务，按日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周批量评测</a:t>
            </a:r>
            <a:r>
              <a:rPr lang="en-US" altLang="zh-CN" sz="1600" dirty="0">
                <a:latin typeface="+mn-ea"/>
              </a:rPr>
              <a:t>10</a:t>
            </a:r>
            <a:r>
              <a:rPr lang="zh-CN" altLang="en-US" sz="1600" dirty="0">
                <a:latin typeface="+mn-ea"/>
              </a:rPr>
              <a:t>万</a:t>
            </a:r>
            <a:r>
              <a:rPr lang="en-US" altLang="zh-CN" sz="1600" dirty="0">
                <a:latin typeface="+mn-ea"/>
              </a:rPr>
              <a:t>-100</a:t>
            </a:r>
            <a:r>
              <a:rPr lang="zh-CN" altLang="en-US" sz="1600" dirty="0">
                <a:latin typeface="+mn-ea"/>
              </a:rPr>
              <a:t>万历史</a:t>
            </a:r>
            <a:r>
              <a:rPr lang="zh-CN" altLang="en-US" sz="1600" dirty="0">
                <a:latin typeface="+mn-ea"/>
              </a:rPr>
              <a:t>对话，采用“模型+规则”混合评估。</a:t>
            </a: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人工质检协同</a:t>
            </a: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r>
              <a:rPr lang="zh-CN" altLang="en-US" sz="1600" dirty="0">
                <a:latin typeface="+mn-ea"/>
              </a:rPr>
              <a:t>异常样本人工复核，标准化评测模板，人机结果融合优化评估模型。</a:t>
            </a: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r>
              <a:rPr lang="en-US" altLang="zh-CN" sz="1600" dirty="0">
                <a:latin typeface="+mn-ea"/>
              </a:rPr>
              <a:t>3.</a:t>
            </a:r>
            <a:r>
              <a:rPr lang="zh-CN" altLang="en-US" sz="1600" dirty="0">
                <a:latin typeface="+mn-ea"/>
              </a:rPr>
              <a:t>记忆与数据管理</a:t>
            </a: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r>
              <a:rPr lang="zh-CN" altLang="en-US" sz="1600" dirty="0">
                <a:latin typeface="+mn-ea"/>
              </a:rPr>
              <a:t>结构化存储评测数据，构建用户画像，支持长期追踪与闭环优化。</a:t>
            </a: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r>
              <a:rPr lang="en-US" altLang="zh-CN" sz="1600" dirty="0">
                <a:latin typeface="+mn-ea"/>
              </a:rPr>
              <a:t>4.</a:t>
            </a:r>
            <a:r>
              <a:rPr lang="zh-CN" altLang="en-US" sz="1600" dirty="0">
                <a:latin typeface="+mn-ea"/>
              </a:rPr>
              <a:t>结果可视化</a:t>
            </a:r>
            <a:endParaRPr lang="zh-CN" altLang="en-US" sz="1600" dirty="0">
              <a:latin typeface="+mn-ea"/>
            </a:endParaRPr>
          </a:p>
          <a:p>
            <a:pPr indent="0">
              <a:buFontTx/>
              <a:buNone/>
            </a:pPr>
            <a:r>
              <a:rPr lang="zh-CN" altLang="en-US" sz="1600" dirty="0">
                <a:latin typeface="+mn-ea"/>
              </a:rPr>
              <a:t>多维数据图表展示，支持对话追溯、条件筛选及报告导出。</a:t>
            </a:r>
            <a:endParaRPr lang="zh-CN" altLang="en-US" sz="1600" dirty="0">
              <a:latin typeface="+mn-ea"/>
            </a:endParaRPr>
          </a:p>
          <a:p>
            <a:pPr indent="-285750">
              <a:buFontTx/>
              <a:buChar char="-"/>
            </a:pPr>
            <a:endParaRPr lang="en-US" altLang="zh-CN" sz="16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15735" y="3694430"/>
            <a:ext cx="5203825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ts val="3300"/>
              </a:lnSpc>
              <a:buFontTx/>
              <a:buNone/>
            </a:pP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性能：响应≤200</a:t>
            </a:r>
            <a:r>
              <a:rPr lang="en-US" altLang="zh-CN" sz="1600" dirty="0">
                <a:latin typeface="+mn-ea"/>
              </a:rPr>
              <a:t>ms，</a:t>
            </a:r>
            <a:r>
              <a:rPr lang="zh-CN" altLang="en-US" sz="1600" dirty="0">
                <a:latin typeface="+mn-ea"/>
              </a:rPr>
              <a:t>支持</a:t>
            </a:r>
            <a:r>
              <a:rPr lang="zh-CN" altLang="en-US" sz="1600" dirty="0">
                <a:latin typeface="+mn-ea"/>
              </a:rPr>
              <a:t>高并发</a:t>
            </a:r>
            <a:endParaRPr lang="zh-CN" altLang="en-US" sz="1600" dirty="0">
              <a:latin typeface="+mn-ea"/>
            </a:endParaRPr>
          </a:p>
          <a:p>
            <a:pPr indent="0">
              <a:lnSpc>
                <a:spcPts val="3300"/>
              </a:lnSpc>
              <a:buFontTx/>
              <a:buNone/>
            </a:pPr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安全性：</a:t>
            </a:r>
            <a:endParaRPr lang="zh-CN" altLang="en-US" sz="1600" dirty="0">
              <a:latin typeface="+mn-ea"/>
            </a:endParaRPr>
          </a:p>
          <a:p>
            <a:pPr indent="0">
              <a:lnSpc>
                <a:spcPts val="3300"/>
              </a:lnSpc>
              <a:buFontTx/>
              <a:buNone/>
            </a:pPr>
            <a:r>
              <a:rPr lang="zh-CN" altLang="en-US" sz="1600" dirty="0">
                <a:latin typeface="+mn-ea"/>
              </a:rPr>
              <a:t>数据加密（</a:t>
            </a:r>
            <a:r>
              <a:rPr lang="en-US" altLang="zh-CN" sz="1600" dirty="0">
                <a:latin typeface="+mn-ea"/>
              </a:rPr>
              <a:t>AES-256）</a:t>
            </a:r>
            <a:r>
              <a:rPr lang="zh-CN" altLang="en-US" sz="1600" dirty="0">
                <a:latin typeface="+mn-ea"/>
              </a:rPr>
              <a:t>及严格访问控制和身份验证、</a:t>
            </a:r>
            <a:r>
              <a:rPr lang="en-US" altLang="zh-CN" sz="1600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数据处理过程脱敏、最小化存储，满足法律与合规要求。</a:t>
            </a:r>
            <a:endParaRPr lang="zh-CN" altLang="en-US" sz="1600" dirty="0">
              <a:latin typeface="+mn-ea"/>
            </a:endParaRPr>
          </a:p>
          <a:p>
            <a:pPr indent="0">
              <a:lnSpc>
                <a:spcPts val="3300"/>
              </a:lnSpc>
              <a:buFontTx/>
              <a:buNone/>
            </a:pPr>
            <a:r>
              <a:rPr lang="en-US" altLang="zh-CN" sz="1600" dirty="0">
                <a:latin typeface="+mn-ea"/>
              </a:rPr>
              <a:t>3.</a:t>
            </a:r>
            <a:r>
              <a:rPr lang="zh-CN" altLang="en-US" sz="1600" dirty="0">
                <a:latin typeface="+mn-ea"/>
              </a:rPr>
              <a:t>易用性：</a:t>
            </a:r>
            <a:endParaRPr lang="zh-CN" altLang="en-US" sz="1600" dirty="0">
              <a:latin typeface="+mn-ea"/>
            </a:endParaRPr>
          </a:p>
          <a:p>
            <a:pPr indent="0">
              <a:lnSpc>
                <a:spcPts val="3300"/>
              </a:lnSpc>
              <a:buFontTx/>
              <a:buNone/>
            </a:pPr>
            <a:r>
              <a:rPr lang="zh-CN" altLang="en-US" sz="1600" dirty="0">
                <a:latin typeface="+mn-ea"/>
              </a:rPr>
              <a:t>界面设计清晰简洁，操作便捷，支持多业务</a:t>
            </a:r>
            <a:r>
              <a:rPr lang="zh-CN" altLang="en-US" sz="1600" dirty="0">
                <a:latin typeface="+mn-ea"/>
              </a:rPr>
              <a:t>方接入。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8140" y="3737610"/>
            <a:ext cx="5799455" cy="2921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515735" y="3761105"/>
            <a:ext cx="5203825" cy="290131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1207770"/>
            <a:ext cx="10375900" cy="1893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</a:t>
            </a:r>
            <a:r>
              <a:rPr lang="zh-CN" altLang="en-US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three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7290748" y="3539625"/>
            <a:ext cx="1540818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Design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系统设计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 txBox="1"/>
          <p:nvPr/>
        </p:nvSpPr>
        <p:spPr>
          <a:xfrm>
            <a:off x="0" y="155575"/>
            <a:ext cx="5260340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170" y="1072515"/>
            <a:ext cx="31248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总体设计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架构层次设计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6540" y="1304925"/>
            <a:ext cx="5585460" cy="5278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应用</a:t>
            </a:r>
            <a:r>
              <a:rPr lang="zh-CN" altLang="en-US" sz="2000" b="1"/>
              <a:t>接入层：</a:t>
            </a:r>
            <a:endParaRPr lang="zh-CN" altLang="en-US" sz="2000" b="1"/>
          </a:p>
          <a:p>
            <a:r>
              <a:rPr lang="en-US" altLang="zh-CN"/>
              <a:t>1.Vue</a:t>
            </a:r>
            <a:r>
              <a:rPr lang="zh-CN" altLang="en-US"/>
              <a:t>质检工作台前端 + </a:t>
            </a:r>
            <a:r>
              <a:rPr lang="en-US" altLang="zh-CN"/>
              <a:t>Web</a:t>
            </a:r>
            <a:r>
              <a:rPr lang="zh-CN" altLang="en-US"/>
              <a:t>浏览器访问入口</a:t>
            </a:r>
            <a:endParaRPr lang="zh-CN" altLang="en-US"/>
          </a:p>
          <a:p>
            <a:r>
              <a:rPr lang="en-US" altLang="zh-CN"/>
              <a:t>2.Nginx</a:t>
            </a:r>
            <a:r>
              <a:rPr lang="zh-CN" altLang="en-US"/>
              <a:t>网关统一路由、鉴权与流量控制</a:t>
            </a:r>
            <a:endParaRPr lang="zh-CN" altLang="en-US" sz="2000" b="1"/>
          </a:p>
          <a:p>
            <a:r>
              <a:rPr lang="zh-CN" altLang="en-US" sz="2000" b="1"/>
              <a:t>核心</a:t>
            </a:r>
            <a:r>
              <a:rPr lang="zh-CN" altLang="en-US" sz="2000" b="1"/>
              <a:t>业务层：</a:t>
            </a:r>
            <a:endParaRPr lang="zh-CN" altLang="en-US" sz="2000" b="1"/>
          </a:p>
          <a:p>
            <a:r>
              <a:rPr lang="en-US" altLang="zh-CN" sz="1800">
                <a:sym typeface="+mn-ea"/>
              </a:rPr>
              <a:t>1.</a:t>
            </a:r>
            <a:r>
              <a:rPr lang="zh-CN" altLang="en-US" sz="1800">
                <a:sym typeface="+mn-ea"/>
              </a:rPr>
              <a:t>质检分析模块（自动评估、任务调度、模型编排）</a:t>
            </a:r>
            <a:endParaRPr lang="zh-CN" altLang="en-US" sz="1800">
              <a:sym typeface="+mn-ea"/>
            </a:endParaRPr>
          </a:p>
          <a:p>
            <a:r>
              <a:rPr lang="en-US" altLang="zh-CN" sz="1800">
                <a:sym typeface="+mn-ea"/>
              </a:rPr>
              <a:t>2.</a:t>
            </a:r>
            <a:r>
              <a:rPr lang="zh-CN" altLang="en-US" sz="1800">
                <a:sym typeface="+mn-ea"/>
              </a:rPr>
              <a:t>人工质检模块（智能派单、模板管理、人机融合）</a:t>
            </a:r>
            <a:endParaRPr lang="zh-CN" altLang="en-US" sz="1800">
              <a:sym typeface="+mn-ea"/>
            </a:endParaRPr>
          </a:p>
          <a:p>
            <a:r>
              <a:rPr lang="en-US" altLang="zh-CN" sz="1800">
                <a:sym typeface="+mn-ea"/>
              </a:rPr>
              <a:t>3.</a:t>
            </a:r>
            <a:r>
              <a:rPr lang="zh-CN" altLang="en-US" sz="1800">
                <a:sym typeface="+mn-ea"/>
              </a:rPr>
              <a:t>记忆数据模块（用户画像、长短时记忆、相似检索）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各模块独立微服务化，通过Mafka等协同调用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基础</a:t>
            </a:r>
            <a:r>
              <a:rPr lang="zh-CN" altLang="en-US" sz="2000" b="1">
                <a:sym typeface="+mn-ea"/>
              </a:rPr>
              <a:t>设施层：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1.Mafka（</a:t>
            </a:r>
            <a:r>
              <a:rPr lang="zh-CN" altLang="en-US">
                <a:sym typeface="+mn-ea"/>
              </a:rPr>
              <a:t>消息队列）支撑异步解耦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2.JobCenter（</a:t>
            </a:r>
            <a:r>
              <a:rPr lang="zh-CN" altLang="en-US">
                <a:sym typeface="+mn-ea"/>
              </a:rPr>
              <a:t>分布式任务调度）驱动周期/非周期任务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3.Lion（</a:t>
            </a:r>
            <a:r>
              <a:rPr lang="zh-CN" altLang="en-US">
                <a:sym typeface="+mn-ea"/>
              </a:rPr>
              <a:t>配置中心）实现规则与参数热更新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4.CAT/Raptor</a:t>
            </a:r>
            <a:r>
              <a:rPr lang="zh-CN" altLang="en-US">
                <a:sym typeface="+mn-ea"/>
              </a:rPr>
              <a:t>提供全链路监控与可观测能力</a:t>
            </a:r>
            <a:endParaRPr lang="zh-CN" altLang="en-US">
              <a:sym typeface="+mn-ea"/>
            </a:endParaRPr>
          </a:p>
          <a:p>
            <a:r>
              <a:rPr lang="zh-CN" altLang="en-US" sz="2000" b="1">
                <a:sym typeface="+mn-ea"/>
              </a:rPr>
              <a:t>数据持久层：</a:t>
            </a:r>
            <a:endParaRPr lang="zh-CN" altLang="en-US" sz="2000" b="1">
              <a:sym typeface="+mn-ea"/>
            </a:endParaRPr>
          </a:p>
          <a:p>
            <a:r>
              <a:rPr lang="en-US" altLang="zh-CN">
                <a:sym typeface="+mn-ea"/>
              </a:rPr>
              <a:t>1.Blade（MySQL）</a:t>
            </a:r>
            <a:r>
              <a:rPr lang="zh-CN" altLang="en-US">
                <a:sym typeface="+mn-ea"/>
              </a:rPr>
              <a:t>存储结构化业务数据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2.Redis</a:t>
            </a:r>
            <a:r>
              <a:rPr lang="zh-CN" altLang="en-US">
                <a:sym typeface="+mn-ea"/>
              </a:rPr>
              <a:t>缓存高频状态与中间结果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3.Faiss</a:t>
            </a:r>
            <a:r>
              <a:rPr lang="zh-CN" altLang="en-US">
                <a:sym typeface="+mn-ea"/>
              </a:rPr>
              <a:t>支持向量检索与相似对话匹配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4.LLM Service API</a:t>
            </a:r>
            <a:r>
              <a:rPr lang="zh-CN" altLang="en-US">
                <a:sym typeface="+mn-ea"/>
              </a:rPr>
              <a:t>提供大模型语义理解能力</a:t>
            </a:r>
            <a:endParaRPr lang="zh-CN" altLang="en-US">
              <a:sym typeface="+mn-ea"/>
            </a:endParaRPr>
          </a:p>
          <a:p>
            <a:endParaRPr lang="en-US" altLang="zh-CN" sz="2000" b="1"/>
          </a:p>
          <a:p>
            <a:endParaRPr lang="en-US" altLang="zh-CN" sz="2000" b="1"/>
          </a:p>
        </p:txBody>
      </p:sp>
      <p:sp>
        <p:nvSpPr>
          <p:cNvPr id="9" name="文本框 8"/>
          <p:cNvSpPr txBox="1"/>
          <p:nvPr/>
        </p:nvSpPr>
        <p:spPr>
          <a:xfrm>
            <a:off x="2446020" y="6318250"/>
            <a:ext cx="177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架构设计图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" y="2103120"/>
            <a:ext cx="6157595" cy="3439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 txBox="1"/>
          <p:nvPr/>
        </p:nvSpPr>
        <p:spPr>
          <a:xfrm>
            <a:off x="0" y="155575"/>
            <a:ext cx="5390515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05425" y="6049645"/>
            <a:ext cx="1580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系统逻辑</a:t>
            </a:r>
            <a:r>
              <a:rPr lang="zh-CN" altLang="en-US"/>
              <a:t>图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1489"/>
          <a:stretch>
            <a:fillRect/>
          </a:stretch>
        </p:blipFill>
        <p:spPr>
          <a:xfrm>
            <a:off x="972185" y="1579245"/>
            <a:ext cx="978662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80670" y="1034415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业务流程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39050" y="6305550"/>
            <a:ext cx="2776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记忆流程</a:t>
            </a:r>
            <a:r>
              <a:rPr lang="zh-CN" altLang="en-US"/>
              <a:t>图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5" y="1320800"/>
            <a:ext cx="6428740" cy="4852035"/>
          </a:xfrm>
          <a:prstGeom prst="rect">
            <a:avLst/>
          </a:prstGeom>
        </p:spPr>
      </p:pic>
      <p:sp>
        <p:nvSpPr>
          <p:cNvPr id="9" name="AutoShape 8"/>
          <p:cNvSpPr/>
          <p:nvPr/>
        </p:nvSpPr>
        <p:spPr>
          <a:xfrm>
            <a:off x="254000" y="1167130"/>
            <a:ext cx="4866005" cy="5162550"/>
          </a:xfrm>
          <a:prstGeom prst="roundRect">
            <a:avLst>
              <a:gd name="adj" fmla="val 2439"/>
            </a:avLst>
          </a:prstGeom>
          <a:solidFill>
            <a:srgbClr val="F8F5FA">
              <a:alpha val="100000"/>
            </a:srgbClr>
          </a:solidFill>
          <a:ln w="12700" cap="flat" cmpd="sng">
            <a:solidFill>
              <a:srgbClr val="6A00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/>
        </p:nvSpPr>
        <p:spPr>
          <a:xfrm>
            <a:off x="508000" y="1397000"/>
            <a:ext cx="4403725" cy="377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6A005F"/>
                </a:solidFill>
                <a:latin typeface="Songti SC"/>
                <a:ea typeface="Songti SC"/>
                <a:cs typeface="Songti SC"/>
                <a:sym typeface="Songti SC"/>
              </a:rPr>
              <a:t>业务流程</a:t>
            </a:r>
            <a:r>
              <a:rPr lang="en-US" sz="1800" b="1" i="0" u="none" strike="noStrike">
                <a:solidFill>
                  <a:srgbClr val="6A005F"/>
                </a:solidFill>
                <a:latin typeface="Songti SC"/>
                <a:ea typeface="Songti SC"/>
                <a:cs typeface="Songti SC"/>
                <a:sym typeface="Songti SC"/>
              </a:rPr>
              <a:t>概览</a:t>
            </a:r>
            <a:endParaRPr lang="en-US" sz="1100"/>
          </a:p>
        </p:txBody>
      </p:sp>
      <p:sp>
        <p:nvSpPr>
          <p:cNvPr id="11" name="AutoShape 10"/>
          <p:cNvSpPr/>
          <p:nvPr/>
        </p:nvSpPr>
        <p:spPr>
          <a:xfrm>
            <a:off x="508000" y="1886585"/>
            <a:ext cx="4514850" cy="40297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数据源输入</a:t>
            </a:r>
            <a:r>
              <a:rPr 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系统以用户与AI的对话记录作为原始数据源。</a:t>
            </a:r>
            <a:endParaRPr lang="en-US" sz="14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zh-CN" alt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质检任务触发</a:t>
            </a:r>
            <a:r>
              <a:rPr 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周期性任务由调度中心按预设频率（如每日）自动触发，对历史对话进行批量抽检。</a:t>
            </a:r>
            <a:endParaRPr lang="en-US" sz="140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非周期性任务由用户手动触发或由特定事件（如异常告警、新模型上线）驱动，进行即时评估。</a:t>
            </a:r>
            <a:endParaRPr lang="en-US" sz="140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zh-CN" alt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质检分析处理</a:t>
            </a:r>
            <a:r>
              <a:rPr 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从对话记录中提取待评测的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回复及相关上下文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调用大语言模型（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LLM）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服务，并结合规则引擎，对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回复在准确性、相关性、安全性等多个维度进行自动化打分和评估。</a:t>
            </a:r>
            <a:endParaRPr lang="zh-CN" alt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zh-CN" alt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记忆与数据沉淀</a:t>
            </a:r>
            <a:r>
              <a:rPr 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所有经过自动或人工质检后的对话数据、评分结果及标注信息，均被送入记忆模块进行结构化存储。该模块负责构建和更新用户画像，并形成长期记忆，为后续的模型优化和个性化服务提供数据支持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zh-CN" alt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结果可视化</a:t>
            </a:r>
            <a:r>
              <a:rPr lang="en-US" sz="1400" b="1" i="0" u="none" strike="noStrike">
                <a:solidFill>
                  <a:srgbClr val="500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最终的质检结果通过前端界面进行多维度的可视化展示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ER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1677670"/>
            <a:ext cx="8343900" cy="41783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170" y="933450"/>
            <a:ext cx="31261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数据库设计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94610" y="6178550"/>
            <a:ext cx="149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E-R</a:t>
            </a:r>
            <a:r>
              <a:rPr lang="zh-CN" altLang="en-US"/>
              <a:t>关系图</a:t>
            </a:r>
            <a:endParaRPr lang="zh-CN" altLang="en-US"/>
          </a:p>
        </p:txBody>
      </p:sp>
      <p:sp>
        <p:nvSpPr>
          <p:cNvPr id="9" name="AutoShape 8"/>
          <p:cNvSpPr/>
          <p:nvPr>
            <p:custDataLst>
              <p:tags r:id="rId3"/>
            </p:custDataLst>
          </p:nvPr>
        </p:nvSpPr>
        <p:spPr>
          <a:xfrm>
            <a:off x="8716645" y="1302385"/>
            <a:ext cx="3075305" cy="2226945"/>
          </a:xfrm>
          <a:prstGeom prst="roundRect">
            <a:avLst>
              <a:gd name="adj" fmla="val 9090"/>
            </a:avLst>
          </a:prstGeom>
          <a:solidFill>
            <a:srgbClr val="F9F2FC">
              <a:alpha val="100000"/>
            </a:srgbClr>
          </a:solidFill>
          <a:ln w="12700" cap="flat" cmpd="sng">
            <a:solidFill>
              <a:srgbClr val="E1CD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4"/>
            </p:custDataLst>
          </p:nvPr>
        </p:nvSpPr>
        <p:spPr>
          <a:xfrm>
            <a:off x="8965565" y="1469390"/>
            <a:ext cx="187007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A0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</a:t>
            </a:r>
            <a:r>
              <a:rPr lang="zh-CN" altLang="en-US" sz="1600" b="1" i="0" u="none" strike="noStrike">
                <a:solidFill>
                  <a:srgbClr val="6A0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中心枢纽关联</a:t>
            </a:r>
            <a:endParaRPr lang="en-US" sz="1100"/>
          </a:p>
        </p:txBody>
      </p:sp>
      <p:sp>
        <p:nvSpPr>
          <p:cNvPr id="11" name="AutoShape 10"/>
          <p:cNvSpPr/>
          <p:nvPr>
            <p:custDataLst>
              <p:tags r:id="rId5"/>
            </p:custDataLst>
          </p:nvPr>
        </p:nvSpPr>
        <p:spPr>
          <a:xfrm>
            <a:off x="9039860" y="2171700"/>
            <a:ext cx="2607310" cy="1020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38100" rIns="0" bIns="381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600"/>
              <a:t>以Conversation为核心枢纽，无缝联结QualityCheck，EvaluationResult与</a:t>
            </a:r>
            <a:r>
              <a:rPr lang="zh-CN" altLang="en-US" sz="1600"/>
              <a:t>ManualQualityCheck，保证全路数据的一致性。</a:t>
            </a:r>
            <a:endParaRPr lang="zh-CN" altLang="en-US" sz="1600"/>
          </a:p>
          <a:p>
            <a:pPr indent="0" algn="l">
              <a:lnSpc>
                <a:spcPct val="108000"/>
              </a:lnSpc>
              <a:defRPr/>
            </a:pPr>
            <a:endParaRPr lang="zh-CN" altLang="en-US" sz="1600"/>
          </a:p>
        </p:txBody>
      </p:sp>
      <p:sp>
        <p:nvSpPr>
          <p:cNvPr id="12" name="AutoShape 11"/>
          <p:cNvSpPr/>
          <p:nvPr>
            <p:custDataLst>
              <p:tags r:id="rId6"/>
            </p:custDataLst>
          </p:nvPr>
        </p:nvSpPr>
        <p:spPr>
          <a:xfrm>
            <a:off x="7011670" y="3823970"/>
            <a:ext cx="4828540" cy="2032000"/>
          </a:xfrm>
          <a:prstGeom prst="roundRect">
            <a:avLst>
              <a:gd name="adj" fmla="val 8333"/>
            </a:avLst>
          </a:prstGeom>
          <a:solidFill>
            <a:srgbClr val="F9F2FC">
              <a:alpha val="100000"/>
            </a:srgbClr>
          </a:solidFill>
          <a:ln w="12700" cap="flat" cmpd="sng">
            <a:solidFill>
              <a:srgbClr val="E1CD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2"/>
          <p:cNvSpPr/>
          <p:nvPr>
            <p:custDataLst>
              <p:tags r:id="rId7"/>
            </p:custDataLst>
          </p:nvPr>
        </p:nvSpPr>
        <p:spPr>
          <a:xfrm>
            <a:off x="7381875" y="3965575"/>
            <a:ext cx="3292475" cy="4737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A0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</a:t>
            </a:r>
            <a:r>
              <a:rPr lang="zh-CN" altLang="en-US" sz="1600" b="1">
                <a:solidFill>
                  <a:srgbClr val="6A0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画像与记忆解耦</a:t>
            </a:r>
            <a:endParaRPr lang="zh-CN" altLang="en-US" sz="1100"/>
          </a:p>
        </p:txBody>
      </p:sp>
      <p:sp>
        <p:nvSpPr>
          <p:cNvPr id="14" name="AutoShape 13"/>
          <p:cNvSpPr/>
          <p:nvPr>
            <p:custDataLst>
              <p:tags r:id="rId8"/>
            </p:custDataLst>
          </p:nvPr>
        </p:nvSpPr>
        <p:spPr>
          <a:xfrm>
            <a:off x="7461250" y="4445000"/>
            <a:ext cx="3788410" cy="1184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38100" rIns="0" bIns="381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600" b="0" i="0" u="none" strike="noStrike">
                <a:sym typeface="Songti SC"/>
              </a:rPr>
              <a:t>MemoryModule表独立解耦，专用于存储大文本与结构化画像（TEXT/JSON），支持异步向量化操作而不</a:t>
            </a:r>
            <a:r>
              <a:rPr lang="zh-CN" altLang="en-US" sz="1600"/>
              <a:t>阻塞核心业务流。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 bwMode="auto">
          <a:xfrm>
            <a:off x="1912588" y="1704802"/>
            <a:ext cx="3381639" cy="3378639"/>
          </a:xfrm>
          <a:custGeom>
            <a:avLst/>
            <a:gdLst>
              <a:gd name="T0" fmla="*/ 929 w 1857"/>
              <a:gd name="T1" fmla="*/ 0 h 1855"/>
              <a:gd name="T2" fmla="*/ 1857 w 1857"/>
              <a:gd name="T3" fmla="*/ 928 h 1855"/>
              <a:gd name="T4" fmla="*/ 929 w 1857"/>
              <a:gd name="T5" fmla="*/ 1855 h 1855"/>
              <a:gd name="T6" fmla="*/ 0 w 1857"/>
              <a:gd name="T7" fmla="*/ 928 h 1855"/>
              <a:gd name="T8" fmla="*/ 929 w 1857"/>
              <a:gd name="T9" fmla="*/ 0 h 1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7" h="1855">
                <a:moveTo>
                  <a:pt x="929" y="0"/>
                </a:moveTo>
                <a:lnTo>
                  <a:pt x="1857" y="928"/>
                </a:lnTo>
                <a:lnTo>
                  <a:pt x="929" y="1855"/>
                </a:lnTo>
                <a:lnTo>
                  <a:pt x="0" y="928"/>
                </a:lnTo>
                <a:lnTo>
                  <a:pt x="929" y="0"/>
                </a:lnTo>
                <a:close/>
              </a:path>
            </a:pathLst>
          </a:custGeom>
          <a:solidFill>
            <a:srgbClr val="6E0F6D"/>
          </a:solidFill>
          <a:ln w="0">
            <a:noFill/>
            <a:prstDash val="solid"/>
            <a:round/>
          </a:ln>
        </p:spPr>
        <p:txBody>
          <a:bodyPr vert="horz" wrap="square" lIns="121890" tIns="60945" rIns="121890" bIns="60945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9405" y="2322035"/>
            <a:ext cx="1608005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973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973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文本框 1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60150" y="3668255"/>
            <a:ext cx="3286516" cy="410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Part four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6868356" y="3539625"/>
            <a:ext cx="2385601" cy="333750"/>
          </a:xfrm>
          <a:prstGeom prst="rect">
            <a:avLst/>
          </a:prstGeom>
          <a:noFill/>
        </p:spPr>
        <p:txBody>
          <a:bodyPr wrap="none" lIns="86683" tIns="43341" rIns="86683" bIns="43341" rtlCol="0">
            <a:spAutoFit/>
          </a:bodyPr>
          <a:lstStyle/>
          <a:p>
            <a:r>
              <a:rPr lang="en-US" altLang="zh-CN" sz="1600" b="1" dirty="0">
                <a:solidFill>
                  <a:srgbClr val="6E0F6D"/>
                </a:solidFill>
                <a:latin typeface="+mn-ea"/>
                <a:cs typeface="+mn-ea"/>
                <a:sym typeface="+mn-lt"/>
              </a:rPr>
              <a:t>System Implementation</a:t>
            </a:r>
            <a:endParaRPr lang="en-US" altLang="zh-CN" sz="1600" b="1" dirty="0">
              <a:solidFill>
                <a:srgbClr val="6E0F6D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7"/>
          <p:cNvSpPr/>
          <p:nvPr/>
        </p:nvSpPr>
        <p:spPr>
          <a:xfrm>
            <a:off x="6954253" y="2714935"/>
            <a:ext cx="221380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rgbClr val="6E0F6D"/>
                </a:solidFill>
                <a:latin typeface="+mn-ea"/>
                <a:cs typeface="+mn-ea"/>
              </a:rPr>
              <a:t>系统实现</a:t>
            </a:r>
            <a:endParaRPr lang="zh-CN" altLang="en-US" sz="4000" b="1" dirty="0">
              <a:solidFill>
                <a:srgbClr val="6E0F6D"/>
              </a:solidFill>
              <a:latin typeface="+mn-ea"/>
              <a:cs typeface="+mn-ea"/>
            </a:endParaRPr>
          </a:p>
        </p:txBody>
      </p:sp>
      <p:cxnSp>
        <p:nvCxnSpPr>
          <p:cNvPr id="7" name="直接连接符 1"/>
          <p:cNvCxnSpPr/>
          <p:nvPr>
            <p:custDataLst>
              <p:tags r:id="rId3"/>
            </p:custDataLst>
          </p:nvPr>
        </p:nvCxnSpPr>
        <p:spPr>
          <a:xfrm>
            <a:off x="5883586" y="3429000"/>
            <a:ext cx="3928174" cy="0"/>
          </a:xfrm>
          <a:prstGeom prst="line">
            <a:avLst/>
          </a:prstGeom>
          <a:ln w="12700">
            <a:solidFill>
              <a:srgbClr val="6E0F6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26"/>
          <p:cNvSpPr>
            <a:spLocks noChangeArrowheads="1"/>
          </p:cNvSpPr>
          <p:nvPr/>
        </p:nvSpPr>
        <p:spPr bwMode="auto">
          <a:xfrm rot="16200000">
            <a:off x="11519998" y="6203320"/>
            <a:ext cx="841485" cy="498379"/>
          </a:xfrm>
          <a:prstGeom prst="triangle">
            <a:avLst>
              <a:gd name="adj" fmla="val 0"/>
            </a:avLst>
          </a:prstGeom>
          <a:solidFill>
            <a:srgbClr val="6E0F6D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0" y="155808"/>
            <a:ext cx="3215623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详细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设计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6" name="AutoShape 9"/>
          <p:cNvSpPr/>
          <p:nvPr>
            <p:custDataLst>
              <p:tags r:id="rId2"/>
            </p:custDataLst>
          </p:nvPr>
        </p:nvSpPr>
        <p:spPr>
          <a:xfrm>
            <a:off x="513080" y="1899920"/>
            <a:ext cx="4306570" cy="1778000"/>
          </a:xfrm>
          <a:prstGeom prst="roundRect">
            <a:avLst>
              <a:gd name="adj" fmla="val 7142"/>
            </a:avLst>
          </a:prstGeom>
          <a:solidFill>
            <a:srgbClr val="F9F5FB">
              <a:alpha val="100000"/>
            </a:srgbClr>
          </a:solidFill>
          <a:ln w="12700" cap="flat" cmpd="sng">
            <a:solidFill>
              <a:srgbClr val="E1D2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550" y="209042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1098550" y="2153920"/>
            <a:ext cx="363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E0F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周期性质检</a:t>
            </a:r>
            <a:r>
              <a:rPr lang="zh-CN" altLang="en-US" sz="1600" b="1" i="0" u="none" strike="noStrike">
                <a:solidFill>
                  <a:srgbClr val="6E0F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任务-</a:t>
            </a:r>
            <a:r>
              <a:rPr lang="en-US" altLang="zh-CN" sz="1600" b="1" i="0" u="none" strike="noStrike">
                <a:solidFill>
                  <a:srgbClr val="6E0F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QualityCheckTask.java</a:t>
            </a:r>
            <a:endParaRPr lang="en-US" altLang="zh-CN" sz="1600" b="1" i="0" u="none" strike="noStrike">
              <a:solidFill>
                <a:srgbClr val="6E0F6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1494790" y="2679065"/>
            <a:ext cx="234378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600"/>
              <a:t>fetchConversationData();</a:t>
            </a:r>
            <a:endParaRPr lang="en-US" altLang="zh-CN" sz="1600"/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600"/>
              <a:t>evaluateConversation();</a:t>
            </a:r>
            <a:endParaRPr lang="en-US" altLang="zh-CN" sz="1600"/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600"/>
              <a:t>updateMemoryData();</a:t>
            </a:r>
            <a:endParaRPr lang="en-US" altLang="zh-CN" sz="1600"/>
          </a:p>
          <a:p>
            <a:pPr indent="0" algn="l">
              <a:lnSpc>
                <a:spcPct val="108000"/>
              </a:lnSpc>
              <a:defRPr/>
            </a:pPr>
            <a:endParaRPr lang="en-US" altLang="zh-CN" sz="1600"/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990465" y="1264920"/>
            <a:ext cx="6576695" cy="3630295"/>
          </a:xfrm>
          <a:prstGeom prst="roundRect">
            <a:avLst>
              <a:gd name="adj" fmla="val 7142"/>
            </a:avLst>
          </a:prstGeom>
          <a:solidFill>
            <a:srgbClr val="F9F5FB">
              <a:alpha val="100000"/>
            </a:srgbClr>
          </a:solidFill>
          <a:ln w="12700" cap="flat" cmpd="sng">
            <a:solidFill>
              <a:srgbClr val="E1D2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67935" y="151892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5725795" y="151892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E0F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记忆数据管理-</a:t>
            </a:r>
            <a:r>
              <a:rPr lang="en-US" altLang="zh-CN" sz="1600" b="1" i="0" u="none" strike="noStrike">
                <a:solidFill>
                  <a:srgbClr val="6E0F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MemoryDataHandler.java</a:t>
            </a:r>
            <a:endParaRPr lang="zh-CN" altLang="en-US" sz="1600" b="1" i="0" u="none" strike="noStrike">
              <a:solidFill>
                <a:srgbClr val="6E0F6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5407025" y="2025015"/>
            <a:ext cx="6049645" cy="2785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600"/>
              <a:t>publicvoidupdateMemoryData（StringuserId,MemoryDatanewData){</a:t>
            </a:r>
            <a:endParaRPr lang="en-US" altLang="zh-CN" sz="1600"/>
          </a:p>
          <a:p>
            <a:pPr indent="457200" algn="l">
              <a:lnSpc>
                <a:spcPct val="108000"/>
              </a:lnSpc>
              <a:defRPr/>
            </a:pPr>
            <a:r>
              <a:rPr lang="en-US" altLang="zh-CN" sz="1600"/>
              <a:t>MemoryData existingData=memoryRepo.load(userId);</a:t>
            </a:r>
            <a:endParaRPr lang="en-US" altLang="zh-CN" sz="1600"/>
          </a:p>
          <a:p>
            <a:pPr indent="457200" algn="l">
              <a:lnSpc>
                <a:spcPct val="108000"/>
              </a:lnSpc>
              <a:defRPr/>
            </a:pPr>
            <a:r>
              <a:rPr lang="en-US" altLang="zh-CN" sz="1600"/>
              <a:t>existingData.update(newData);</a:t>
            </a:r>
            <a:endParaRPr lang="en-US" altLang="zh-CN" sz="1600"/>
          </a:p>
          <a:p>
            <a:pPr indent="457200" algn="l">
              <a:lnSpc>
                <a:spcPct val="108000"/>
              </a:lnSpc>
              <a:defRPr/>
            </a:pPr>
            <a:r>
              <a:rPr lang="en-US" altLang="zh-CN" sz="1600"/>
              <a:t>memoryRepo.save(existingData);</a:t>
            </a:r>
            <a:endParaRPr lang="en-US" altLang="zh-CN" sz="1600"/>
          </a:p>
          <a:p>
            <a:pPr marL="0" lvl="0" indent="0" algn="l">
              <a:lnSpc>
                <a:spcPct val="108000"/>
              </a:lnSpc>
              <a:buNone/>
              <a:defRPr/>
            </a:pPr>
            <a:r>
              <a:rPr lang="en-US" altLang="zh-CN" sz="1600">
                <a:solidFill>
                  <a:schemeClr val="tx1"/>
                </a:solidFill>
              </a:rPr>
              <a:t>}</a:t>
            </a:r>
            <a:endParaRPr lang="en-US" altLang="zh-CN" sz="1600">
              <a:solidFill>
                <a:schemeClr val="tx1"/>
              </a:solidFill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600"/>
              <a:t>publicvoidsyncMemoryDataToProfile(StringuserId,MemoryDatadata){</a:t>
            </a:r>
            <a:endParaRPr lang="en-US" altLang="zh-CN" sz="1600"/>
          </a:p>
          <a:p>
            <a:pPr indent="457200" algn="l">
              <a:lnSpc>
                <a:spcPct val="108000"/>
              </a:lnSpc>
              <a:defRPr/>
            </a:pPr>
            <a:r>
              <a:rPr lang="en-US" altLang="zh-CN" sz="1600"/>
              <a:t>UserProfile profile =profileRepo.load(userId);</a:t>
            </a:r>
            <a:endParaRPr lang="en-US" altLang="zh-CN" sz="1600"/>
          </a:p>
          <a:p>
            <a:pPr indent="457200" algn="l">
              <a:lnSpc>
                <a:spcPct val="108000"/>
              </a:lnSpc>
              <a:defRPr/>
            </a:pPr>
            <a:r>
              <a:rPr lang="en-US" altLang="zh-CN" sz="1600"/>
              <a:t>profile.updateMemory(data);</a:t>
            </a:r>
            <a:endParaRPr lang="en-US" altLang="zh-CN" sz="1600"/>
          </a:p>
          <a:p>
            <a:pPr indent="457200" algn="l">
              <a:lnSpc>
                <a:spcPct val="108000"/>
              </a:lnSpc>
              <a:defRPr/>
            </a:pPr>
            <a:r>
              <a:rPr lang="en-US" altLang="zh-CN" sz="1600"/>
              <a:t>profileRepo.save(profile);</a:t>
            </a:r>
            <a:endParaRPr lang="en-US" altLang="zh-CN" sz="1600"/>
          </a:p>
          <a:p>
            <a:pPr marL="0" lvl="0" indent="0" algn="l">
              <a:lnSpc>
                <a:spcPct val="108000"/>
              </a:lnSpc>
              <a:buNone/>
              <a:defRPr/>
            </a:pPr>
            <a:r>
              <a:rPr lang="en-US" altLang="zh-CN" sz="1600">
                <a:solidFill>
                  <a:schemeClr val="tx1"/>
                </a:solidFill>
              </a:rPr>
              <a:t>}</a:t>
            </a:r>
            <a:endParaRPr lang="en-US" altLang="zh-CN" sz="1600">
              <a:solidFill>
                <a:schemeClr val="tx1"/>
              </a:solidFill>
            </a:endParaRPr>
          </a:p>
          <a:p>
            <a:pPr indent="0" algn="l">
              <a:lnSpc>
                <a:spcPct val="108000"/>
              </a:lnSpc>
              <a:defRPr/>
            </a:pP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8" name="AutoShape 11"/>
          <p:cNvSpPr/>
          <p:nvPr>
            <p:custDataLst>
              <p:tags r:id="rId14"/>
            </p:custDataLst>
          </p:nvPr>
        </p:nvSpPr>
        <p:spPr>
          <a:xfrm>
            <a:off x="513715" y="3986530"/>
            <a:ext cx="4305935" cy="1524000"/>
          </a:xfrm>
          <a:prstGeom prst="roundRect">
            <a:avLst>
              <a:gd name="adj" fmla="val 8333"/>
            </a:avLst>
          </a:prstGeom>
          <a:solidFill>
            <a:srgbClr val="F9F2FC">
              <a:alpha val="100000"/>
            </a:srgbClr>
          </a:solidFill>
          <a:ln w="12700" cap="flat" cmpd="sng">
            <a:solidFill>
              <a:srgbClr val="E1CD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3"/>
          <p:cNvSpPr/>
          <p:nvPr>
            <p:custDataLst>
              <p:tags r:id="rId15"/>
            </p:custDataLst>
          </p:nvPr>
        </p:nvSpPr>
        <p:spPr>
          <a:xfrm>
            <a:off x="958215" y="4347210"/>
            <a:ext cx="341566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38100" rIns="0" bIns="381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600"/>
              <a:t>展示了完备的异常捕获机制与自动化批处理流水线，确保海量任务不遗漏。</a:t>
            </a:r>
            <a:endParaRPr lang="zh-CN" altLang="en-US" sz="1600"/>
          </a:p>
          <a:p>
            <a:pPr indent="0" algn="l">
              <a:lnSpc>
                <a:spcPct val="108000"/>
              </a:lnSpc>
              <a:defRPr/>
            </a:pPr>
            <a:endParaRPr lang="zh-CN" altLang="en-US" sz="1600"/>
          </a:p>
        </p:txBody>
      </p:sp>
      <p:sp>
        <p:nvSpPr>
          <p:cNvPr id="17" name="AutoShape 14"/>
          <p:cNvSpPr/>
          <p:nvPr>
            <p:custDataLst>
              <p:tags r:id="rId16"/>
            </p:custDataLst>
          </p:nvPr>
        </p:nvSpPr>
        <p:spPr>
          <a:xfrm>
            <a:off x="5534660" y="5080000"/>
            <a:ext cx="5474335" cy="1228090"/>
          </a:xfrm>
          <a:prstGeom prst="roundRect">
            <a:avLst>
              <a:gd name="adj" fmla="val 8333"/>
            </a:avLst>
          </a:prstGeom>
          <a:solidFill>
            <a:srgbClr val="F9F2FC">
              <a:alpha val="100000"/>
            </a:srgbClr>
          </a:solidFill>
          <a:ln w="12700" cap="flat" cmpd="sng">
            <a:solidFill>
              <a:srgbClr val="E1CD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6"/>
          <p:cNvSpPr/>
          <p:nvPr>
            <p:custDataLst>
              <p:tags r:id="rId17"/>
            </p:custDataLst>
          </p:nvPr>
        </p:nvSpPr>
        <p:spPr>
          <a:xfrm>
            <a:off x="5725795" y="5397500"/>
            <a:ext cx="511492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38100" rIns="0" bIns="38100" rtlCol="0" anchor="ctr" anchorCtr="0"/>
          <a:lstStyle/>
          <a:p>
            <a:pPr algn="l">
              <a:lnSpc>
                <a:spcPct val="108000"/>
              </a:lnSpc>
              <a:buClrTx/>
              <a:buSzTx/>
              <a:buFontTx/>
              <a:defRPr/>
            </a:pPr>
            <a:r>
              <a:rPr lang="zh-CN" altLang="en-US" sz="1600"/>
              <a:t>典型的“加载-更新-回写”高并发单次原子性事务流，确保画像更新时的数据强一致性。</a:t>
            </a:r>
            <a:endParaRPr lang="zh-CN" altLang="en-US" sz="1600"/>
          </a:p>
          <a:p>
            <a:pPr indent="0" algn="l">
              <a:lnSpc>
                <a:spcPct val="108000"/>
              </a:lnSpc>
              <a:defRPr/>
            </a:pPr>
            <a:endParaRPr lang="zh-CN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0" y="155575"/>
            <a:ext cx="4229100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系统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可视化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43700" y="1831340"/>
            <a:ext cx="4439920" cy="1004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6E0F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全景任</a:t>
            </a:r>
            <a:r>
              <a:rPr lang="zh-CN" altLang="en-US" sz="2000" b="1">
                <a:solidFill>
                  <a:srgbClr val="6B0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务</a:t>
            </a:r>
            <a:r>
              <a:rPr lang="zh-CN" altLang="en-US" sz="2000" b="1">
                <a:solidFill>
                  <a:srgbClr val="6E0F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看板</a:t>
            </a:r>
            <a:endParaRPr lang="zh-CN" altLang="en-US" sz="2000" b="1">
              <a:solidFill>
                <a:srgbClr val="6E0F6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/>
              <a:t>实时追踪周期/非周期任务的执行进度、评测成功率与耗时统计。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034415"/>
            <a:ext cx="5591810" cy="3408045"/>
          </a:xfrm>
          <a:prstGeom prst="rect">
            <a:avLst/>
          </a:prstGeom>
        </p:spPr>
      </p:pic>
      <p:sp>
        <p:nvSpPr>
          <p:cNvPr id="6" name="左箭头 5"/>
          <p:cNvSpPr/>
          <p:nvPr/>
        </p:nvSpPr>
        <p:spPr>
          <a:xfrm>
            <a:off x="5948680" y="2106295"/>
            <a:ext cx="540000" cy="432000"/>
          </a:xfrm>
          <a:prstGeom prst="leftArrow">
            <a:avLst/>
          </a:prstGeom>
          <a:solidFill>
            <a:srgbClr val="6B0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830" y="3165475"/>
            <a:ext cx="5763260" cy="3454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5610" y="4696460"/>
            <a:ext cx="4944110" cy="974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6B0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记忆与画像穿透</a:t>
            </a:r>
            <a:endParaRPr lang="zh-CN" altLang="en-US" sz="2000" b="1">
              <a:solidFill>
                <a:srgbClr val="6B0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/>
              <a:t>结构化聚合用户与模型的历史发言数据，追溯原始对话上下文辅助业务深度归因。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379720" y="4967605"/>
            <a:ext cx="540000" cy="432000"/>
          </a:xfrm>
          <a:prstGeom prst="rightArrow">
            <a:avLst/>
          </a:prstGeom>
          <a:solidFill>
            <a:srgbClr val="6B0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40055" y="1388745"/>
            <a:ext cx="5201285" cy="447103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p>
            <a:pPr algn="ctr"/>
            <a:r>
              <a:rPr lang="zh-CN" altLang="en-US" sz="2000"/>
              <a:t>核心工作总结</a:t>
            </a:r>
            <a:endParaRPr lang="zh-CN" altLang="en-US" sz="2000"/>
          </a:p>
        </p:txBody>
      </p:sp>
      <p:sp>
        <p:nvSpPr>
          <p:cNvPr id="2" name="矩形 1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32" y="-62450"/>
            <a:ext cx="901964" cy="1097165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0" y="155575"/>
            <a:ext cx="5869940" cy="401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04 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论文总结与未来</a:t>
            </a:r>
            <a:r>
              <a:rPr lang="zh-CN" altLang="en-US" sz="3600" b="1" dirty="0">
                <a:solidFill>
                  <a:schemeClr val="bg1"/>
                </a:solidFill>
                <a:latin typeface="等线" panose="02010600030101010101" pitchFamily="2" charset="-122"/>
                <a:sym typeface="等线" panose="02010600030101010101" pitchFamily="2" charset="-122"/>
              </a:rPr>
              <a:t>展望</a:t>
            </a:r>
            <a:endParaRPr lang="zh-CN" altLang="en-US" sz="3600" b="1" dirty="0">
              <a:solidFill>
                <a:schemeClr val="bg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1985" y="1836420"/>
            <a:ext cx="4797425" cy="993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000"/>
              <a:t>成功研发并落地高可用大模型智能质检系统，打破人工抽检瓶颈，实现100%全量自动化覆盖。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641985" y="3267710"/>
            <a:ext cx="4797425" cy="7683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000"/>
              <a:t>首创”质检-记忆-画像”全生命周期闭环，化被动质检损耗为主动的数据资产积累。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641985" y="4442460"/>
            <a:ext cx="4797425" cy="9931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000"/>
              <a:t>系统经严格生产级验证，架构具备极致的弹性扩展能力，完全满足企业级海量并发需求。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13" name="文本框 12"/>
          <p:cNvSpPr txBox="1"/>
          <p:nvPr/>
        </p:nvSpPr>
        <p:spPr>
          <a:xfrm>
            <a:off x="6360160" y="1388110"/>
            <a:ext cx="5201285" cy="44716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p>
            <a:pPr algn="ctr"/>
            <a:r>
              <a:rPr lang="zh-CN" altLang="en-US" sz="1600"/>
              <a:t>未来展望</a:t>
            </a:r>
            <a:endParaRPr lang="zh-CN" altLang="en-US" sz="1600"/>
          </a:p>
        </p:txBody>
      </p:sp>
      <p:sp>
        <p:nvSpPr>
          <p:cNvPr id="14" name="文本框 13"/>
          <p:cNvSpPr txBox="1"/>
          <p:nvPr/>
        </p:nvSpPr>
        <p:spPr>
          <a:xfrm>
            <a:off x="6623685" y="1836420"/>
            <a:ext cx="4797425" cy="993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000"/>
              <a:t>模型专属微调（</a:t>
            </a:r>
            <a:r>
              <a:rPr lang="en-US" altLang="zh-CN" sz="2000"/>
              <a:t>SFT）：</a:t>
            </a:r>
            <a:r>
              <a:rPr lang="zh-CN" altLang="en-US" sz="2000"/>
              <a:t>沉淀高质量人工标注样本，驱动垂直业务专属大模型的持续迭代。</a:t>
            </a:r>
            <a:endParaRPr lang="zh-CN" altLang="en-US" sz="2000"/>
          </a:p>
        </p:txBody>
      </p:sp>
      <p:sp>
        <p:nvSpPr>
          <p:cNvPr id="16" name="文本框 15"/>
          <p:cNvSpPr txBox="1"/>
          <p:nvPr/>
        </p:nvSpPr>
        <p:spPr>
          <a:xfrm>
            <a:off x="6623685" y="3267710"/>
            <a:ext cx="4797425" cy="7677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000"/>
              <a:t>多模态质检拓展：从纯文本延伸至语音、视觉交互内容的全方位综合质量评估。</a:t>
            </a:r>
            <a:endParaRPr lang="zh-CN" altLang="en-US" sz="2000"/>
          </a:p>
        </p:txBody>
      </p:sp>
      <p:sp>
        <p:nvSpPr>
          <p:cNvPr id="17" name="文本框 16"/>
          <p:cNvSpPr txBox="1"/>
          <p:nvPr/>
        </p:nvSpPr>
        <p:spPr>
          <a:xfrm>
            <a:off x="6623685" y="4442460"/>
            <a:ext cx="4797425" cy="9931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000"/>
              <a:t>深度根因挖掘：结合知识图谱技术，实现用户行为、情绪变化与客诉的深度归因分析。</a:t>
            </a:r>
            <a:endParaRPr lang="zh-CN" altLang="en-US" sz="20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3209476"/>
            <a:ext cx="12192000" cy="1520449"/>
          </a:xfrm>
          <a:prstGeom prst="rect">
            <a:avLst/>
          </a:prstGeom>
          <a:solidFill>
            <a:srgbClr val="6B0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41206" y="3429000"/>
            <a:ext cx="9892683" cy="815063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敬请各位老师批评指正</a:t>
            </a:r>
            <a:endParaRPr lang="zh-CN" altLang="en-US" sz="4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5644775"/>
            <a:ext cx="9144000" cy="447649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6B0060"/>
                </a:solidFill>
              </a:rPr>
              <a:t>答辩人：</a:t>
            </a:r>
            <a:r>
              <a:rPr lang="zh-CN" altLang="en-US" dirty="0"/>
              <a:t>解晓鹏</a:t>
            </a:r>
            <a:r>
              <a:rPr lang="en-US" altLang="zh-CN" dirty="0"/>
              <a:t>       </a:t>
            </a:r>
            <a:r>
              <a:rPr lang="zh-CN" altLang="en-US" b="1" dirty="0">
                <a:solidFill>
                  <a:srgbClr val="6B0060"/>
                </a:solidFill>
              </a:rPr>
              <a:t>导师：</a:t>
            </a:r>
            <a:r>
              <a:rPr lang="zh-CN" altLang="en-US" dirty="0"/>
              <a:t>葛季栋</a:t>
            </a:r>
            <a:r>
              <a:rPr lang="en-US" altLang="zh-CN" dirty="0"/>
              <a:t>  </a:t>
            </a:r>
            <a:r>
              <a:rPr lang="zh-CN" altLang="en-US" dirty="0"/>
              <a:t>教授</a:t>
            </a:r>
            <a:r>
              <a:rPr lang="en-US" altLang="zh-CN" dirty="0"/>
              <a:t>          </a:t>
            </a:r>
            <a:r>
              <a:rPr lang="zh-CN" altLang="en-US" b="1" dirty="0">
                <a:solidFill>
                  <a:srgbClr val="6B0060"/>
                </a:solidFill>
              </a:rPr>
              <a:t>时间：</a:t>
            </a:r>
            <a:r>
              <a:rPr lang="en-US" altLang="zh-CN" dirty="0"/>
              <a:t>2026.05.06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 flipV="1">
            <a:off x="318083" y="4417868"/>
            <a:ext cx="1155583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66" y="93720"/>
            <a:ext cx="4038600" cy="71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2" y="657408"/>
            <a:ext cx="2335634" cy="210417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187547" y="2114514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6B0060"/>
                </a:solidFill>
              </a:rPr>
              <a:t>硕士毕业论文答辩</a:t>
            </a:r>
            <a:endParaRPr lang="zh-CN" altLang="en-US" sz="3200" b="1" dirty="0">
              <a:solidFill>
                <a:srgbClr val="6B006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7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8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9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10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11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2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13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14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5.xml><?xml version="1.0" encoding="utf-8"?>
<p:tagLst xmlns:p="http://schemas.openxmlformats.org/presentationml/2006/main">
  <p:tag name="KSO_WM_DIAGRAM_VIRTUALLY_FRAME" val="{&quot;height&quot;:540.45,&quot;left&quot;:48.85,&quot;top&quot;:113.4,&quot;width&quot;:853.9}"/>
</p:tagLst>
</file>

<file path=ppt/tags/tag16.xml><?xml version="1.0" encoding="utf-8"?>
<p:tagLst xmlns:p="http://schemas.openxmlformats.org/presentationml/2006/main">
  <p:tag name="KSO_WM_DIAGRAM_VIRTUALLY_FRAME" val="{&quot;height&quot;:540.45,&quot;left&quot;:48.85,&quot;top&quot;:113.4,&quot;width&quot;:853.9}"/>
</p:tagLst>
</file>

<file path=ppt/tags/tag17.xml><?xml version="1.0" encoding="utf-8"?>
<p:tagLst xmlns:p="http://schemas.openxmlformats.org/presentationml/2006/main">
  <p:tag name="KSO_WM_DIAGRAM_VIRTUALLY_FRAME" val="{&quot;height&quot;:540.45,&quot;left&quot;:48.85,&quot;top&quot;:113.4,&quot;width&quot;:853.9}"/>
</p:tagLst>
</file>

<file path=ppt/tags/tag18.xml><?xml version="1.0" encoding="utf-8"?>
<p:tagLst xmlns:p="http://schemas.openxmlformats.org/presentationml/2006/main">
  <p:tag name="KSO_WM_DIAGRAM_VIRTUALLY_FRAME" val="{&quot;height&quot;:540.45,&quot;left&quot;:48.85,&quot;top&quot;:113.4,&quot;width&quot;:853.9}"/>
</p:tagLst>
</file>

<file path=ppt/tags/tag19.xml><?xml version="1.0" encoding="utf-8"?>
<p:tagLst xmlns:p="http://schemas.openxmlformats.org/presentationml/2006/main">
  <p:tag name="KSO_WM_DIAGRAM_VIRTUALLY_FRAME" val="{&quot;height&quot;:540.45,&quot;left&quot;:48.85,&quot;top&quot;:113.4,&quot;width&quot;:853.9}"/>
</p:tagLst>
</file>

<file path=ppt/tags/tag20.xml><?xml version="1.0" encoding="utf-8"?>
<p:tagLst xmlns:p="http://schemas.openxmlformats.org/presentationml/2006/main">
  <p:tag name="KSO_WM_DIAGRAM_VIRTUALLY_FRAME" val="{&quot;height&quot;:540.45,&quot;left&quot;:48.85,&quot;top&quot;:113.4,&quot;width&quot;:853.9}"/>
</p:tagLst>
</file>

<file path=ppt/tags/tag21.xml><?xml version="1.0" encoding="utf-8"?>
<p:tagLst xmlns:p="http://schemas.openxmlformats.org/presentationml/2006/main">
  <p:tag name="MH" val="20161022204031"/>
  <p:tag name="MH_LIBRARY" val="GRAPHIC"/>
  <p:tag name="MH_ORDER" val="文本框 2"/>
</p:tagLst>
</file>

<file path=ppt/tags/tag22.xml><?xml version="1.0" encoding="utf-8"?>
<p:tagLst xmlns:p="http://schemas.openxmlformats.org/presentationml/2006/main">
  <p:tag name="MH" val="20161022204031"/>
  <p:tag name="MH_LIBRARY" val="GRAPHIC"/>
  <p:tag name="MH_ORDER" val="文本框 11"/>
</p:tagLst>
</file>

<file path=ppt/tags/tag23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24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25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26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27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28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29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30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31.xml><?xml version="1.0" encoding="utf-8"?>
<p:tagLst xmlns:p="http://schemas.openxmlformats.org/presentationml/2006/main">
  <p:tag name="KSO_WM_DIAGRAM_VIRTUALLY_FRAME" val="{&quot;height&quot;:300,&quot;left&quot;:40.4,&quot;top&quot;:99.6,&quot;width&quot;:977.6}"/>
</p:tagLst>
</file>

<file path=ppt/tags/tag32.xml><?xml version="1.0" encoding="utf-8"?>
<p:tagLst xmlns:p="http://schemas.openxmlformats.org/presentationml/2006/main">
  <p:tag name="KSO_WM_DIAGRAM_VIRTUALLY_FRAME" val="{&quot;height&quot;:390.8,&quot;left&quot;:48.85,&quot;top&quot;:122.15,&quot;width&quot;:431.15}"/>
</p:tagLst>
</file>

<file path=ppt/tags/tag33.xml><?xml version="1.0" encoding="utf-8"?>
<p:tagLst xmlns:p="http://schemas.openxmlformats.org/presentationml/2006/main">
  <p:tag name="KSO_WM_DIAGRAM_VIRTUALLY_FRAME" val="{&quot;height&quot;:390.8,&quot;left&quot;:48.85,&quot;top&quot;:122.15,&quot;width&quot;:431.15}"/>
</p:tagLst>
</file>

<file path=ppt/tags/tag34.xml><?xml version="1.0" encoding="utf-8"?>
<p:tagLst xmlns:p="http://schemas.openxmlformats.org/presentationml/2006/main">
  <p:tag name="KSO_WM_DIAGRAM_VIRTUALLY_FRAME" val="{&quot;height&quot;:390.8,&quot;left&quot;:48.85,&quot;top&quot;:122.15,&quot;width&quot;:431.15}"/>
</p:tagLst>
</file>

<file path=ppt/tags/tag35.xml><?xml version="1.0" encoding="utf-8"?>
<p:tagLst xmlns:p="http://schemas.openxmlformats.org/presentationml/2006/main">
  <p:tag name="KSO_WM_DIAGRAM_VIRTUALLY_FRAME" val="{&quot;height&quot;:390.8,&quot;left&quot;:48.85,&quot;top&quot;:122.15,&quot;width&quot;:431.15}"/>
</p:tagLst>
</file>

<file path=ppt/tags/tag36.xml><?xml version="1.0" encoding="utf-8"?>
<p:tagLst xmlns:p="http://schemas.openxmlformats.org/presentationml/2006/main">
  <p:tag name="commondata" val="eyJoZGlkIjoiNTljNmJhMDIyMDk3OThiMWI2MDUyZjdjNjMzN2I5NT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3192</Words>
  <Application>WPS 演示</Application>
  <PresentationFormat>宽屏</PresentationFormat>
  <Paragraphs>339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Songti SC</vt:lpstr>
      <vt:lpstr>Segoe Print</vt:lpstr>
      <vt:lpstr>黑体</vt:lpstr>
      <vt:lpstr>等线</vt:lpstr>
      <vt:lpstr>Times New Roman</vt:lpstr>
      <vt:lpstr>Calibri</vt:lpstr>
      <vt:lpstr>微软雅黑</vt:lpstr>
      <vt:lpstr>Segoe UI</vt:lpstr>
      <vt:lpstr>Microsoft YaHei UI</vt:lpstr>
      <vt:lpstr>Noto Sans SC</vt:lpstr>
      <vt:lpstr>等线 Light</vt:lpstr>
      <vt:lpstr>Arial Unicode MS</vt:lpstr>
      <vt:lpstr>Songti SC</vt:lpstr>
      <vt:lpstr>Office 主题​​</vt:lpstr>
      <vt:lpstr>面向人机对话场景的大模型智能质检系统 的设计与实现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敬请各位老师批评指正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法院律师服务系统的设计与实现</dc:title>
  <dc:creator>香香 张</dc:creator>
  <cp:lastModifiedBy>11</cp:lastModifiedBy>
  <cp:revision>144</cp:revision>
  <dcterms:created xsi:type="dcterms:W3CDTF">2024-03-27T09:04:00Z</dcterms:created>
  <dcterms:modified xsi:type="dcterms:W3CDTF">2026-05-20T11:13:22Z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6FFC8AB930A84BF3A9CCA6508A0FBBBE_13</vt:lpwstr>
  </property>
  <property fmtid="{D5CDD505-2E9C-101B-9397-08002B2CF9AE}" pid="3" name="KSOProductBuildVer">
    <vt:lpwstr>2052-12.1.0.26375</vt:lpwstr>
  </property>
</Properties>
</file>